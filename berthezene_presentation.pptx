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15"/>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Lst>
  <p:sldSz cx="12192000" cy="6858000"/>
  <p:notesSz cx="6858000" cy="9144000"/>
  <p:defaultTextStyle>
    <a:defPPr>
      <a:defRPr lang="fr-F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6841"/>
    <p:restoredTop sz="66512"/>
  </p:normalViewPr>
  <p:slideViewPr>
    <p:cSldViewPr snapToGrid="0">
      <p:cViewPr varScale="1">
        <p:scale>
          <a:sx n="85" d="100"/>
          <a:sy n="85" d="100"/>
        </p:scale>
        <p:origin x="1640" y="168"/>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theme" Target="theme/theme1.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viewProps" Target="viewProps.xml"/><Relationship Id="rId2" Type="http://schemas.openxmlformats.org/officeDocument/2006/relationships/slide" Target="slides/slide1.xml"/><Relationship Id="rId16"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notesMaster" Target="notesMasters/notesMaster1.xml"/><Relationship Id="rId10" Type="http://schemas.openxmlformats.org/officeDocument/2006/relationships/slide" Target="slides/slide9.xml"/><Relationship Id="rId19"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Espace réservé de l'en-tête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fr-FR"/>
          </a:p>
        </p:txBody>
      </p:sp>
      <p:sp>
        <p:nvSpPr>
          <p:cNvPr id="3" name="Espace réservé de la date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74AC69DF-A44A-264A-9888-AC8DEF65023B}" type="datetimeFigureOut">
              <a:rPr lang="fr-FR" smtClean="0"/>
              <a:t>29/07/2025</a:t>
            </a:fld>
            <a:endParaRPr lang="fr-FR"/>
          </a:p>
        </p:txBody>
      </p:sp>
      <p:sp>
        <p:nvSpPr>
          <p:cNvPr id="4" name="Espace réservé de l'image des diapositives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fr-FR"/>
          </a:p>
        </p:txBody>
      </p:sp>
      <p:sp>
        <p:nvSpPr>
          <p:cNvPr id="5" name="Espace réservé des notes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
        <p:nvSpPr>
          <p:cNvPr id="6" name="Espace réservé du pied de page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fr-FR"/>
          </a:p>
        </p:txBody>
      </p:sp>
      <p:sp>
        <p:nvSpPr>
          <p:cNvPr id="7" name="Espace réservé du numéro de diapositive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8513D6CC-A7EA-C74E-8418-085DBF8C1FB2}" type="slidenum">
              <a:rPr lang="fr-FR" smtClean="0"/>
              <a:t>‹N°›</a:t>
            </a:fld>
            <a:endParaRPr lang="fr-FR"/>
          </a:p>
        </p:txBody>
      </p:sp>
    </p:spTree>
    <p:extLst>
      <p:ext uri="{BB962C8B-B14F-4D97-AF65-F5344CB8AC3E}">
        <p14:creationId xmlns:p14="http://schemas.microsoft.com/office/powerpoint/2010/main" val="3020793130"/>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notes 2"/>
          <p:cNvSpPr>
            <a:spLocks noGrp="1"/>
          </p:cNvSpPr>
          <p:nvPr>
            <p:ph type="body" idx="1"/>
          </p:nvPr>
        </p:nvSpPr>
        <p:spPr/>
        <p:txBody>
          <a:bodyPr/>
          <a:lstStyle/>
          <a:p>
            <a:r>
              <a:rPr lang="fr-FR" dirty="0"/>
              <a:t>Hello, </a:t>
            </a:r>
          </a:p>
          <a:p>
            <a:r>
              <a:rPr lang="fr-FR" dirty="0" err="1"/>
              <a:t>Thanks</a:t>
            </a:r>
            <a:r>
              <a:rPr lang="fr-FR" dirty="0"/>
              <a:t> for </a:t>
            </a:r>
            <a:r>
              <a:rPr lang="fr-FR" dirty="0" err="1"/>
              <a:t>joining</a:t>
            </a:r>
            <a:r>
              <a:rPr lang="fr-FR" dirty="0"/>
              <a:t> </a:t>
            </a:r>
            <a:r>
              <a:rPr lang="fr-FR" dirty="0" err="1"/>
              <a:t>this</a:t>
            </a:r>
            <a:r>
              <a:rPr lang="fr-FR" dirty="0"/>
              <a:t> </a:t>
            </a:r>
            <a:r>
              <a:rPr lang="fr-FR" dirty="0" err="1"/>
              <a:t>presentation</a:t>
            </a:r>
            <a:r>
              <a:rPr lang="fr-FR" dirty="0"/>
              <a:t>. </a:t>
            </a:r>
          </a:p>
          <a:p>
            <a:r>
              <a:rPr lang="fr-FR" dirty="0"/>
              <a:t>I </a:t>
            </a:r>
            <a:r>
              <a:rPr lang="fr-FR" dirty="0" err="1"/>
              <a:t>am</a:t>
            </a:r>
            <a:r>
              <a:rPr lang="fr-FR" dirty="0"/>
              <a:t> Cedric and </a:t>
            </a:r>
            <a:r>
              <a:rPr lang="fr-FR" dirty="0" err="1"/>
              <a:t>today</a:t>
            </a:r>
            <a:r>
              <a:rPr lang="fr-FR" dirty="0"/>
              <a:t> I </a:t>
            </a:r>
            <a:r>
              <a:rPr lang="fr-FR" dirty="0" err="1"/>
              <a:t>will</a:t>
            </a:r>
            <a:r>
              <a:rPr lang="fr-FR" dirty="0"/>
              <a:t> talk about </a:t>
            </a:r>
            <a:r>
              <a:rPr lang="fr-FR" dirty="0" err="1"/>
              <a:t>Pens</a:t>
            </a:r>
            <a:r>
              <a:rPr lang="fr-FR" dirty="0"/>
              <a:t> and Printer, a </a:t>
            </a:r>
            <a:r>
              <a:rPr lang="fr-FR" dirty="0" err="1"/>
              <a:t>company</a:t>
            </a:r>
            <a:r>
              <a:rPr lang="fr-FR" dirty="0"/>
              <a:t> </a:t>
            </a:r>
            <a:r>
              <a:rPr lang="fr-FR" dirty="0" err="1"/>
              <a:t>specialized</a:t>
            </a:r>
            <a:r>
              <a:rPr lang="fr-FR" dirty="0"/>
              <a:t> in </a:t>
            </a:r>
            <a:r>
              <a:rPr lang="fr-FR" dirty="0" err="1"/>
              <a:t>providing</a:t>
            </a:r>
            <a:r>
              <a:rPr lang="fr-FR" dirty="0"/>
              <a:t> high-</a:t>
            </a:r>
            <a:r>
              <a:rPr lang="fr-FR" dirty="0" err="1"/>
              <a:t>quality</a:t>
            </a:r>
            <a:r>
              <a:rPr lang="fr-FR" dirty="0"/>
              <a:t> office </a:t>
            </a:r>
            <a:r>
              <a:rPr lang="fr-FR" dirty="0" err="1"/>
              <a:t>products</a:t>
            </a:r>
            <a:r>
              <a:rPr lang="fr-FR" dirty="0"/>
              <a:t> for large corporations.</a:t>
            </a:r>
          </a:p>
        </p:txBody>
      </p:sp>
      <p:sp>
        <p:nvSpPr>
          <p:cNvPr id="4" name="Espace réservé du numéro de diapositive 3"/>
          <p:cNvSpPr>
            <a:spLocks noGrp="1"/>
          </p:cNvSpPr>
          <p:nvPr>
            <p:ph type="sldNum" sz="quarter" idx="5"/>
          </p:nvPr>
        </p:nvSpPr>
        <p:spPr/>
        <p:txBody>
          <a:bodyPr/>
          <a:lstStyle/>
          <a:p>
            <a:fld id="{8513D6CC-A7EA-C74E-8418-085DBF8C1FB2}" type="slidenum">
              <a:rPr lang="fr-FR" smtClean="0"/>
              <a:t>1</a:t>
            </a:fld>
            <a:endParaRPr lang="fr-FR"/>
          </a:p>
        </p:txBody>
      </p:sp>
    </p:spTree>
    <p:extLst>
      <p:ext uri="{BB962C8B-B14F-4D97-AF65-F5344CB8AC3E}">
        <p14:creationId xmlns:p14="http://schemas.microsoft.com/office/powerpoint/2010/main" val="2834276897"/>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notes 2"/>
          <p:cNvSpPr>
            <a:spLocks noGrp="1"/>
          </p:cNvSpPr>
          <p:nvPr>
            <p:ph type="body" idx="1"/>
          </p:nvPr>
        </p:nvSpPr>
        <p:spPr/>
        <p:txBody>
          <a:bodyPr/>
          <a:lstStyle/>
          <a:p>
            <a:r>
              <a:rPr lang="fr-FR" dirty="0"/>
              <a:t>The </a:t>
            </a:r>
            <a:r>
              <a:rPr lang="fr-FR" dirty="0" err="1"/>
              <a:t>company</a:t>
            </a:r>
            <a:r>
              <a:rPr lang="fr-FR" dirty="0"/>
              <a:t> </a:t>
            </a:r>
            <a:r>
              <a:rPr lang="fr-FR" dirty="0" err="1"/>
              <a:t>launched</a:t>
            </a:r>
            <a:r>
              <a:rPr lang="fr-FR" dirty="0"/>
              <a:t> a new line of office </a:t>
            </a:r>
            <a:r>
              <a:rPr lang="fr-FR" dirty="0" err="1"/>
              <a:t>stationery</a:t>
            </a:r>
            <a:r>
              <a:rPr lang="fr-FR" dirty="0"/>
              <a:t> </a:t>
            </a:r>
            <a:r>
              <a:rPr lang="fr-FR" dirty="0" err="1"/>
              <a:t>including</a:t>
            </a:r>
            <a:r>
              <a:rPr lang="fr-FR" dirty="0"/>
              <a:t> notebook, </a:t>
            </a:r>
            <a:r>
              <a:rPr lang="fr-FR" dirty="0" err="1"/>
              <a:t>pens</a:t>
            </a:r>
            <a:r>
              <a:rPr lang="fr-FR" dirty="0"/>
              <a:t> and </a:t>
            </a:r>
            <a:r>
              <a:rPr lang="fr-FR" dirty="0" err="1"/>
              <a:t>sticky</a:t>
            </a:r>
            <a:r>
              <a:rPr lang="fr-FR" dirty="0"/>
              <a:t> notes.</a:t>
            </a:r>
          </a:p>
          <a:p>
            <a:r>
              <a:rPr lang="fr-FR" dirty="0" err="1"/>
              <a:t>They</a:t>
            </a:r>
            <a:r>
              <a:rPr lang="fr-FR" dirty="0"/>
              <a:t> </a:t>
            </a:r>
            <a:r>
              <a:rPr lang="fr-FR" dirty="0" err="1"/>
              <a:t>tested</a:t>
            </a:r>
            <a:r>
              <a:rPr lang="fr-FR" dirty="0"/>
              <a:t> for 6 </a:t>
            </a:r>
            <a:r>
              <a:rPr lang="fr-FR" dirty="0" err="1"/>
              <a:t>weeks</a:t>
            </a:r>
            <a:r>
              <a:rPr lang="fr-FR" dirty="0"/>
              <a:t> </a:t>
            </a:r>
            <a:r>
              <a:rPr lang="fr-FR" dirty="0" err="1"/>
              <a:t>different</a:t>
            </a:r>
            <a:r>
              <a:rPr lang="fr-FR" dirty="0"/>
              <a:t> sales techniques and </a:t>
            </a:r>
            <a:r>
              <a:rPr lang="fr-FR" dirty="0" err="1"/>
              <a:t>collected</a:t>
            </a:r>
            <a:r>
              <a:rPr lang="fr-FR" dirty="0"/>
              <a:t> data for one goal : </a:t>
            </a:r>
            <a:r>
              <a:rPr lang="fr-FR" dirty="0" err="1"/>
              <a:t>identity</a:t>
            </a:r>
            <a:r>
              <a:rPr lang="fr-FR" dirty="0"/>
              <a:t> the </a:t>
            </a:r>
            <a:r>
              <a:rPr lang="fr-FR" dirty="0" err="1"/>
              <a:t>most</a:t>
            </a:r>
            <a:r>
              <a:rPr lang="fr-FR" dirty="0"/>
              <a:t> efficient sales </a:t>
            </a:r>
            <a:r>
              <a:rPr lang="fr-FR" dirty="0" err="1"/>
              <a:t>method</a:t>
            </a:r>
            <a:r>
              <a:rPr lang="fr-FR" dirty="0"/>
              <a:t> balancing the revenue </a:t>
            </a:r>
            <a:r>
              <a:rPr lang="fr-FR" dirty="0" err="1"/>
              <a:t>earned</a:t>
            </a:r>
            <a:r>
              <a:rPr lang="fr-FR" dirty="0"/>
              <a:t> and the </a:t>
            </a:r>
            <a:r>
              <a:rPr lang="fr-FR" dirty="0" err="1"/>
              <a:t>energy</a:t>
            </a:r>
            <a:r>
              <a:rPr lang="fr-FR" dirty="0"/>
              <a:t> </a:t>
            </a:r>
            <a:r>
              <a:rPr lang="fr-FR" dirty="0" err="1"/>
              <a:t>spent</a:t>
            </a:r>
            <a:r>
              <a:rPr lang="fr-FR" dirty="0"/>
              <a:t>. </a:t>
            </a:r>
          </a:p>
        </p:txBody>
      </p:sp>
      <p:sp>
        <p:nvSpPr>
          <p:cNvPr id="4" name="Espace réservé du numéro de diapositive 3"/>
          <p:cNvSpPr>
            <a:spLocks noGrp="1"/>
          </p:cNvSpPr>
          <p:nvPr>
            <p:ph type="sldNum" sz="quarter" idx="5"/>
          </p:nvPr>
        </p:nvSpPr>
        <p:spPr/>
        <p:txBody>
          <a:bodyPr/>
          <a:lstStyle/>
          <a:p>
            <a:fld id="{8513D6CC-A7EA-C74E-8418-085DBF8C1FB2}" type="slidenum">
              <a:rPr lang="fr-FR" smtClean="0"/>
              <a:t>2</a:t>
            </a:fld>
            <a:endParaRPr lang="fr-FR"/>
          </a:p>
        </p:txBody>
      </p:sp>
    </p:spTree>
    <p:extLst>
      <p:ext uri="{BB962C8B-B14F-4D97-AF65-F5344CB8AC3E}">
        <p14:creationId xmlns:p14="http://schemas.microsoft.com/office/powerpoint/2010/main" val="4184376888"/>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notes 2"/>
          <p:cNvSpPr>
            <a:spLocks noGrp="1"/>
          </p:cNvSpPr>
          <p:nvPr>
            <p:ph type="body" idx="1"/>
          </p:nvPr>
        </p:nvSpPr>
        <p:spPr/>
        <p:txBody>
          <a:bodyPr/>
          <a:lstStyle/>
          <a:p>
            <a:r>
              <a:rPr lang="fr-FR" dirty="0"/>
              <a:t>To </a:t>
            </a:r>
            <a:r>
              <a:rPr lang="fr-FR" dirty="0" err="1"/>
              <a:t>ensure</a:t>
            </a:r>
            <a:r>
              <a:rPr lang="fr-FR" dirty="0"/>
              <a:t> </a:t>
            </a:r>
            <a:r>
              <a:rPr lang="fr-FR" dirty="0" err="1"/>
              <a:t>my</a:t>
            </a:r>
            <a:r>
              <a:rPr lang="fr-FR" dirty="0"/>
              <a:t> mission a </a:t>
            </a:r>
            <a:r>
              <a:rPr lang="fr-FR" dirty="0" err="1"/>
              <a:t>success</a:t>
            </a:r>
            <a:r>
              <a:rPr lang="fr-FR" dirty="0"/>
              <a:t>, I first of all, </a:t>
            </a:r>
            <a:r>
              <a:rPr lang="fr-FR" dirty="0" err="1"/>
              <a:t>make</a:t>
            </a:r>
            <a:r>
              <a:rPr lang="fr-FR" dirty="0"/>
              <a:t> sure the data </a:t>
            </a:r>
            <a:r>
              <a:rPr lang="fr-FR" dirty="0" err="1"/>
              <a:t>was</a:t>
            </a:r>
            <a:r>
              <a:rPr lang="fr-FR" dirty="0"/>
              <a:t> </a:t>
            </a:r>
            <a:r>
              <a:rPr lang="fr-FR" dirty="0" err="1"/>
              <a:t>ready</a:t>
            </a:r>
            <a:r>
              <a:rPr lang="fr-FR" dirty="0"/>
              <a:t> for </a:t>
            </a:r>
            <a:r>
              <a:rPr lang="fr-FR" dirty="0" err="1"/>
              <a:t>analysis</a:t>
            </a:r>
            <a:r>
              <a:rPr lang="fr-FR" dirty="0"/>
              <a:t>. So I </a:t>
            </a:r>
            <a:r>
              <a:rPr lang="fr-FR" dirty="0" err="1"/>
              <a:t>checked</a:t>
            </a:r>
            <a:r>
              <a:rPr lang="fr-FR" dirty="0"/>
              <a:t> for duplicates and </a:t>
            </a:r>
            <a:r>
              <a:rPr lang="fr-FR" dirty="0" err="1"/>
              <a:t>invalid</a:t>
            </a:r>
            <a:r>
              <a:rPr lang="fr-FR" dirty="0"/>
              <a:t> values. And by </a:t>
            </a:r>
            <a:r>
              <a:rPr lang="fr-FR" dirty="0" err="1"/>
              <a:t>counting</a:t>
            </a:r>
            <a:r>
              <a:rPr lang="fr-FR" dirty="0"/>
              <a:t> </a:t>
            </a:r>
            <a:r>
              <a:rPr lang="fr-FR" dirty="0" err="1"/>
              <a:t>each</a:t>
            </a:r>
            <a:r>
              <a:rPr lang="fr-FR" dirty="0"/>
              <a:t> values in </a:t>
            </a:r>
            <a:r>
              <a:rPr lang="fr-FR" dirty="0" err="1"/>
              <a:t>each</a:t>
            </a:r>
            <a:r>
              <a:rPr lang="fr-FR" dirty="0"/>
              <a:t> </a:t>
            </a:r>
            <a:r>
              <a:rPr lang="fr-FR" dirty="0" err="1"/>
              <a:t>colums</a:t>
            </a:r>
            <a:r>
              <a:rPr lang="fr-FR" dirty="0"/>
              <a:t>, I </a:t>
            </a:r>
            <a:r>
              <a:rPr lang="fr-FR" dirty="0" err="1"/>
              <a:t>noticed</a:t>
            </a:r>
            <a:r>
              <a:rPr lang="fr-FR" dirty="0"/>
              <a:t> </a:t>
            </a:r>
            <a:r>
              <a:rPr lang="fr-FR" dirty="0" err="1"/>
              <a:t>that</a:t>
            </a:r>
            <a:r>
              <a:rPr lang="fr-FR" dirty="0"/>
              <a:t> </a:t>
            </a:r>
            <a:r>
              <a:rPr lang="fr-FR" dirty="0" err="1"/>
              <a:t>there</a:t>
            </a:r>
            <a:r>
              <a:rPr lang="fr-FR" dirty="0"/>
              <a:t> </a:t>
            </a:r>
            <a:r>
              <a:rPr lang="fr-FR" dirty="0" err="1"/>
              <a:t>were</a:t>
            </a:r>
            <a:r>
              <a:rPr lang="fr-FR" dirty="0"/>
              <a:t> </a:t>
            </a:r>
            <a:r>
              <a:rPr lang="fr-FR" dirty="0" err="1"/>
              <a:t>missing</a:t>
            </a:r>
            <a:r>
              <a:rPr lang="fr-FR" dirty="0"/>
              <a:t> values in the revenue </a:t>
            </a:r>
            <a:r>
              <a:rPr lang="fr-FR" dirty="0" err="1"/>
              <a:t>columns</a:t>
            </a:r>
            <a:r>
              <a:rPr lang="fr-FR" dirty="0"/>
              <a:t> (</a:t>
            </a:r>
            <a:r>
              <a:rPr lang="fr-FR" dirty="0" err="1"/>
              <a:t>excluded</a:t>
            </a:r>
            <a:r>
              <a:rPr lang="fr-FR" dirty="0"/>
              <a:t> </a:t>
            </a:r>
            <a:r>
              <a:rPr lang="fr-FR" dirty="0" err="1"/>
              <a:t>from</a:t>
            </a:r>
            <a:r>
              <a:rPr lang="fr-FR" dirty="0"/>
              <a:t> </a:t>
            </a:r>
            <a:r>
              <a:rPr lang="fr-FR" dirty="0" err="1"/>
              <a:t>my</a:t>
            </a:r>
            <a:r>
              <a:rPr lang="fr-FR" dirty="0"/>
              <a:t> </a:t>
            </a:r>
            <a:r>
              <a:rPr lang="fr-FR" dirty="0" err="1"/>
              <a:t>analysis</a:t>
            </a:r>
            <a:r>
              <a:rPr lang="fr-FR" dirty="0"/>
              <a:t>) and </a:t>
            </a:r>
            <a:r>
              <a:rPr lang="fr-FR" dirty="0" err="1"/>
              <a:t>inconsistent</a:t>
            </a:r>
            <a:r>
              <a:rPr lang="fr-FR" dirty="0"/>
              <a:t> entries in the sales </a:t>
            </a:r>
            <a:r>
              <a:rPr lang="fr-FR" dirty="0" err="1"/>
              <a:t>methods</a:t>
            </a:r>
            <a:r>
              <a:rPr lang="fr-FR" dirty="0"/>
              <a:t> </a:t>
            </a:r>
            <a:r>
              <a:rPr lang="fr-FR" dirty="0" err="1"/>
              <a:t>fields</a:t>
            </a:r>
            <a:r>
              <a:rPr lang="fr-FR" dirty="0"/>
              <a:t>. </a:t>
            </a:r>
          </a:p>
          <a:p>
            <a:r>
              <a:rPr lang="fr-FR" dirty="0"/>
              <a:t>I </a:t>
            </a:r>
            <a:r>
              <a:rPr lang="fr-FR" dirty="0" err="1"/>
              <a:t>therefore</a:t>
            </a:r>
            <a:r>
              <a:rPr lang="fr-FR" dirty="0"/>
              <a:t> </a:t>
            </a:r>
            <a:r>
              <a:rPr lang="fr-FR" dirty="0" err="1"/>
              <a:t>formatted</a:t>
            </a:r>
            <a:r>
              <a:rPr lang="fr-FR" dirty="0"/>
              <a:t> to </a:t>
            </a:r>
            <a:r>
              <a:rPr lang="fr-FR" dirty="0" err="1"/>
              <a:t>three</a:t>
            </a:r>
            <a:r>
              <a:rPr lang="fr-FR" dirty="0"/>
              <a:t> distinct </a:t>
            </a:r>
            <a:r>
              <a:rPr lang="fr-FR" dirty="0" err="1"/>
              <a:t>categories</a:t>
            </a:r>
            <a:r>
              <a:rPr lang="fr-FR" dirty="0"/>
              <a:t> to </a:t>
            </a:r>
            <a:r>
              <a:rPr lang="fr-FR" dirty="0" err="1"/>
              <a:t>ensure</a:t>
            </a:r>
            <a:r>
              <a:rPr lang="fr-FR" dirty="0"/>
              <a:t> a </a:t>
            </a:r>
            <a:r>
              <a:rPr lang="fr-FR" dirty="0" err="1"/>
              <a:t>accurate</a:t>
            </a:r>
            <a:r>
              <a:rPr lang="fr-FR" dirty="0"/>
              <a:t> </a:t>
            </a:r>
            <a:r>
              <a:rPr lang="fr-FR" dirty="0" err="1"/>
              <a:t>grouping</a:t>
            </a:r>
            <a:r>
              <a:rPr lang="fr-FR" dirty="0"/>
              <a:t> </a:t>
            </a:r>
            <a:r>
              <a:rPr lang="fr-FR" dirty="0" err="1"/>
              <a:t>later</a:t>
            </a:r>
            <a:r>
              <a:rPr lang="fr-FR" dirty="0"/>
              <a:t> on. </a:t>
            </a:r>
          </a:p>
          <a:p>
            <a:endParaRPr lang="fr-FR" dirty="0"/>
          </a:p>
          <a:p>
            <a:r>
              <a:rPr lang="fr-FR" dirty="0"/>
              <a:t>Second of all, I made </a:t>
            </a:r>
            <a:r>
              <a:rPr lang="fr-FR" dirty="0" err="1"/>
              <a:t>my</a:t>
            </a:r>
            <a:r>
              <a:rPr lang="fr-FR" dirty="0"/>
              <a:t> </a:t>
            </a:r>
            <a:r>
              <a:rPr lang="fr-FR" dirty="0" err="1"/>
              <a:t>analysis</a:t>
            </a:r>
            <a:r>
              <a:rPr lang="fr-FR" dirty="0"/>
              <a:t> </a:t>
            </a:r>
            <a:r>
              <a:rPr lang="fr-FR" dirty="0" err="1"/>
              <a:t>depending</a:t>
            </a:r>
            <a:r>
              <a:rPr lang="fr-FR" dirty="0"/>
              <a:t> on the </a:t>
            </a:r>
            <a:r>
              <a:rPr lang="fr-FR" dirty="0" err="1"/>
              <a:t>company</a:t>
            </a:r>
            <a:r>
              <a:rPr lang="fr-FR" dirty="0"/>
              <a:t> </a:t>
            </a:r>
            <a:r>
              <a:rPr lang="fr-FR" dirty="0" err="1"/>
              <a:t>needs</a:t>
            </a:r>
            <a:r>
              <a:rPr lang="fr-FR" dirty="0"/>
              <a:t> as the instructions I </a:t>
            </a:r>
            <a:r>
              <a:rPr lang="fr-FR" dirty="0" err="1"/>
              <a:t>received</a:t>
            </a:r>
            <a:r>
              <a:rPr lang="fr-FR" dirty="0"/>
              <a:t> by email.</a:t>
            </a:r>
          </a:p>
        </p:txBody>
      </p:sp>
      <p:sp>
        <p:nvSpPr>
          <p:cNvPr id="4" name="Espace réservé du numéro de diapositive 3"/>
          <p:cNvSpPr>
            <a:spLocks noGrp="1"/>
          </p:cNvSpPr>
          <p:nvPr>
            <p:ph type="sldNum" sz="quarter" idx="5"/>
          </p:nvPr>
        </p:nvSpPr>
        <p:spPr/>
        <p:txBody>
          <a:bodyPr/>
          <a:lstStyle/>
          <a:p>
            <a:fld id="{8513D6CC-A7EA-C74E-8418-085DBF8C1FB2}" type="slidenum">
              <a:rPr lang="fr-FR" smtClean="0"/>
              <a:t>3</a:t>
            </a:fld>
            <a:endParaRPr lang="fr-FR"/>
          </a:p>
        </p:txBody>
      </p:sp>
    </p:spTree>
    <p:extLst>
      <p:ext uri="{BB962C8B-B14F-4D97-AF65-F5344CB8AC3E}">
        <p14:creationId xmlns:p14="http://schemas.microsoft.com/office/powerpoint/2010/main" val="3451397749"/>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notes 2"/>
          <p:cNvSpPr>
            <a:spLocks noGrp="1"/>
          </p:cNvSpPr>
          <p:nvPr>
            <p:ph type="body" idx="1"/>
          </p:nvPr>
        </p:nvSpPr>
        <p:spPr/>
        <p:txBody>
          <a:bodyPr/>
          <a:lstStyle/>
          <a:p>
            <a:r>
              <a:rPr lang="en-US" sz="1200" kern="1200" dirty="0">
                <a:solidFill>
                  <a:schemeClr val="tx1"/>
                </a:solidFill>
                <a:effectLst/>
                <a:latin typeface="+mn-lt"/>
                <a:ea typeface="+mn-ea"/>
                <a:cs typeface="+mn-cs"/>
              </a:rPr>
              <a:t>Over the past six weeks, </a:t>
            </a:r>
            <a:r>
              <a:rPr lang="en-US" sz="1200" b="1" kern="1200" dirty="0">
                <a:solidFill>
                  <a:schemeClr val="tx1"/>
                </a:solidFill>
                <a:effectLst/>
                <a:latin typeface="+mn-lt"/>
                <a:ea typeface="+mn-ea"/>
                <a:cs typeface="+mn-cs"/>
              </a:rPr>
              <a:t>email alone accounted for approximately 50% of all customer interactions</a:t>
            </a:r>
            <a:r>
              <a:rPr lang="en-US" sz="1200" kern="1200" dirty="0">
                <a:solidFill>
                  <a:schemeClr val="tx1"/>
                </a:solidFill>
                <a:effectLst/>
                <a:latin typeface="+mn-lt"/>
                <a:ea typeface="+mn-ea"/>
                <a:cs typeface="+mn-cs"/>
              </a:rPr>
              <a:t>. This confirms that email remains an efficient and scalable method to capture customer attention—especially in an increasingly digital world where quick communication is key.</a:t>
            </a:r>
          </a:p>
          <a:p>
            <a:endParaRPr lang="en-US" sz="1200" kern="1200" dirty="0">
              <a:solidFill>
                <a:schemeClr val="tx1"/>
              </a:solidFill>
              <a:effectLst/>
              <a:latin typeface="+mn-lt"/>
              <a:ea typeface="+mn-ea"/>
              <a:cs typeface="+mn-cs"/>
            </a:endParaRPr>
          </a:p>
          <a:p>
            <a:r>
              <a:rPr lang="en-US" sz="1200" kern="1200" dirty="0">
                <a:solidFill>
                  <a:schemeClr val="tx1"/>
                </a:solidFill>
                <a:effectLst/>
                <a:latin typeface="+mn-lt"/>
                <a:ea typeface="+mn-ea"/>
                <a:cs typeface="+mn-cs"/>
              </a:rPr>
              <a:t>However, </a:t>
            </a:r>
            <a:r>
              <a:rPr lang="en-US" sz="1200" b="1" kern="1200" dirty="0">
                <a:solidFill>
                  <a:schemeClr val="tx1"/>
                </a:solidFill>
                <a:effectLst/>
                <a:latin typeface="+mn-lt"/>
                <a:ea typeface="+mn-ea"/>
                <a:cs typeface="+mn-cs"/>
              </a:rPr>
              <a:t>does capturing attention via email alone translate into high revenue?</a:t>
            </a:r>
            <a:br>
              <a:rPr lang="en-US" sz="1200" kern="1200" dirty="0">
                <a:solidFill>
                  <a:schemeClr val="tx1"/>
                </a:solidFill>
                <a:effectLst/>
                <a:latin typeface="+mn-lt"/>
                <a:ea typeface="+mn-ea"/>
                <a:cs typeface="+mn-cs"/>
              </a:rPr>
            </a:br>
            <a:r>
              <a:rPr lang="en-US" sz="1200" kern="1200" dirty="0">
                <a:solidFill>
                  <a:schemeClr val="tx1"/>
                </a:solidFill>
                <a:effectLst/>
                <a:latin typeface="+mn-lt"/>
                <a:ea typeface="+mn-ea"/>
                <a:cs typeface="+mn-cs"/>
              </a:rPr>
              <a:t>To answer this, we now dive deeper into the revenue analysis of each sales method.</a:t>
            </a:r>
          </a:p>
          <a:p>
            <a:endParaRPr lang="fr-FR" dirty="0"/>
          </a:p>
        </p:txBody>
      </p:sp>
      <p:sp>
        <p:nvSpPr>
          <p:cNvPr id="4" name="Espace réservé du numéro de diapositive 3"/>
          <p:cNvSpPr>
            <a:spLocks noGrp="1"/>
          </p:cNvSpPr>
          <p:nvPr>
            <p:ph type="sldNum" sz="quarter" idx="5"/>
          </p:nvPr>
        </p:nvSpPr>
        <p:spPr/>
        <p:txBody>
          <a:bodyPr/>
          <a:lstStyle/>
          <a:p>
            <a:fld id="{8513D6CC-A7EA-C74E-8418-085DBF8C1FB2}" type="slidenum">
              <a:rPr lang="fr-FR" smtClean="0"/>
              <a:t>5</a:t>
            </a:fld>
            <a:endParaRPr lang="fr-FR"/>
          </a:p>
        </p:txBody>
      </p:sp>
    </p:spTree>
    <p:extLst>
      <p:ext uri="{BB962C8B-B14F-4D97-AF65-F5344CB8AC3E}">
        <p14:creationId xmlns:p14="http://schemas.microsoft.com/office/powerpoint/2010/main" val="847060705"/>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notes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200" kern="1200" dirty="0">
                <a:solidFill>
                  <a:schemeClr val="tx1"/>
                </a:solidFill>
                <a:effectLst/>
                <a:latin typeface="+mn-lt"/>
                <a:ea typeface="+mn-ea"/>
                <a:cs typeface="+mn-cs"/>
              </a:rPr>
              <a:t>The </a:t>
            </a:r>
            <a:r>
              <a:rPr lang="en-US" sz="1200" b="1" kern="1200" dirty="0">
                <a:solidFill>
                  <a:schemeClr val="tx1"/>
                </a:solidFill>
                <a:effectLst/>
                <a:latin typeface="+mn-lt"/>
                <a:ea typeface="+mn-ea"/>
                <a:cs typeface="+mn-cs"/>
              </a:rPr>
              <a:t>median revenue around $100</a:t>
            </a:r>
            <a:r>
              <a:rPr lang="en-US" sz="1200" kern="1200" dirty="0">
                <a:solidFill>
                  <a:schemeClr val="tx1"/>
                </a:solidFill>
                <a:effectLst/>
                <a:latin typeface="+mn-lt"/>
                <a:ea typeface="+mn-ea"/>
                <a:cs typeface="+mn-cs"/>
              </a:rPr>
              <a:t> is a solid result considering the type of products which was sold. Considering also, some products were sold for more that $200. That implies a good relationship with qualified customers ready to spend more to renew their office stationery products.</a:t>
            </a:r>
          </a:p>
          <a:p>
            <a:endParaRPr lang="fr-FR" dirty="0"/>
          </a:p>
        </p:txBody>
      </p:sp>
      <p:sp>
        <p:nvSpPr>
          <p:cNvPr id="4" name="Espace réservé du numéro de diapositive 3"/>
          <p:cNvSpPr>
            <a:spLocks noGrp="1"/>
          </p:cNvSpPr>
          <p:nvPr>
            <p:ph type="sldNum" sz="quarter" idx="5"/>
          </p:nvPr>
        </p:nvSpPr>
        <p:spPr/>
        <p:txBody>
          <a:bodyPr/>
          <a:lstStyle/>
          <a:p>
            <a:fld id="{8513D6CC-A7EA-C74E-8418-085DBF8C1FB2}" type="slidenum">
              <a:rPr lang="fr-FR" smtClean="0"/>
              <a:t>6</a:t>
            </a:fld>
            <a:endParaRPr lang="fr-FR"/>
          </a:p>
        </p:txBody>
      </p:sp>
    </p:spTree>
    <p:extLst>
      <p:ext uri="{BB962C8B-B14F-4D97-AF65-F5344CB8AC3E}">
        <p14:creationId xmlns:p14="http://schemas.microsoft.com/office/powerpoint/2010/main" val="929235925"/>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notes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200" kern="1200" dirty="0">
                <a:solidFill>
                  <a:schemeClr val="tx1"/>
                </a:solidFill>
                <a:effectLst/>
                <a:latin typeface="+mn-lt"/>
                <a:ea typeface="+mn-ea"/>
                <a:cs typeface="+mn-cs"/>
              </a:rPr>
              <a:t>As per the number of customers captured, sending an email only is the best way to generate higher revenue returned. While the call, which is very time-consuming is the least effective. </a:t>
            </a:r>
          </a:p>
          <a:p>
            <a:endParaRPr lang="fr-FR" dirty="0"/>
          </a:p>
        </p:txBody>
      </p:sp>
      <p:sp>
        <p:nvSpPr>
          <p:cNvPr id="4" name="Espace réservé du numéro de diapositive 3"/>
          <p:cNvSpPr>
            <a:spLocks noGrp="1"/>
          </p:cNvSpPr>
          <p:nvPr>
            <p:ph type="sldNum" sz="quarter" idx="5"/>
          </p:nvPr>
        </p:nvSpPr>
        <p:spPr/>
        <p:txBody>
          <a:bodyPr/>
          <a:lstStyle/>
          <a:p>
            <a:fld id="{8513D6CC-A7EA-C74E-8418-085DBF8C1FB2}" type="slidenum">
              <a:rPr lang="fr-FR" smtClean="0"/>
              <a:t>7</a:t>
            </a:fld>
            <a:endParaRPr lang="fr-FR"/>
          </a:p>
        </p:txBody>
      </p:sp>
    </p:spTree>
    <p:extLst>
      <p:ext uri="{BB962C8B-B14F-4D97-AF65-F5344CB8AC3E}">
        <p14:creationId xmlns:p14="http://schemas.microsoft.com/office/powerpoint/2010/main" val="3528557004"/>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notes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200" kern="1200" dirty="0">
                <a:solidFill>
                  <a:schemeClr val="tx1"/>
                </a:solidFill>
                <a:effectLst/>
                <a:latin typeface="+mn-lt"/>
                <a:ea typeface="+mn-ea"/>
                <a:cs typeface="+mn-cs"/>
              </a:rPr>
              <a:t>Email alone proves to be an efficient method for generating significant revenue, though individual transaction amounts can vary widely—some exceeding $142.50, while others fall below $100. To secure more consistent and sustainable revenue growth over the long term, combining email outreach with a follow-up call is far more effective </a:t>
            </a:r>
          </a:p>
          <a:p>
            <a:endParaRPr lang="fr-FR" dirty="0"/>
          </a:p>
        </p:txBody>
      </p:sp>
      <p:sp>
        <p:nvSpPr>
          <p:cNvPr id="4" name="Espace réservé du numéro de diapositive 3"/>
          <p:cNvSpPr>
            <a:spLocks noGrp="1"/>
          </p:cNvSpPr>
          <p:nvPr>
            <p:ph type="sldNum" sz="quarter" idx="5"/>
          </p:nvPr>
        </p:nvSpPr>
        <p:spPr/>
        <p:txBody>
          <a:bodyPr/>
          <a:lstStyle/>
          <a:p>
            <a:fld id="{8513D6CC-A7EA-C74E-8418-085DBF8C1FB2}" type="slidenum">
              <a:rPr lang="fr-FR" smtClean="0"/>
              <a:t>8</a:t>
            </a:fld>
            <a:endParaRPr lang="fr-FR"/>
          </a:p>
        </p:txBody>
      </p:sp>
    </p:spTree>
    <p:extLst>
      <p:ext uri="{BB962C8B-B14F-4D97-AF65-F5344CB8AC3E}">
        <p14:creationId xmlns:p14="http://schemas.microsoft.com/office/powerpoint/2010/main" val="601288217"/>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notes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200" kern="1200" dirty="0">
                <a:solidFill>
                  <a:schemeClr val="tx1"/>
                </a:solidFill>
                <a:effectLst/>
                <a:latin typeface="+mn-lt"/>
                <a:ea typeface="+mn-ea"/>
                <a:cs typeface="+mn-cs"/>
              </a:rPr>
              <a:t>The combination of email and call is the safest approach to ensure steady and long-term revenue growth across the weeks. While email alone can generate high revenue, it is also prone to significant fluctuations, making it less reliable for consistent results. In contrast, the strategy of sending an email followed by a call as a follow-up has shown to maintain a more stable and increasing revenue trend.</a:t>
            </a:r>
          </a:p>
          <a:p>
            <a:endParaRPr lang="fr-FR" dirty="0"/>
          </a:p>
        </p:txBody>
      </p:sp>
      <p:sp>
        <p:nvSpPr>
          <p:cNvPr id="4" name="Espace réservé du numéro de diapositive 3"/>
          <p:cNvSpPr>
            <a:spLocks noGrp="1"/>
          </p:cNvSpPr>
          <p:nvPr>
            <p:ph type="sldNum" sz="quarter" idx="5"/>
          </p:nvPr>
        </p:nvSpPr>
        <p:spPr/>
        <p:txBody>
          <a:bodyPr/>
          <a:lstStyle/>
          <a:p>
            <a:fld id="{8513D6CC-A7EA-C74E-8418-085DBF8C1FB2}" type="slidenum">
              <a:rPr lang="fr-FR" smtClean="0"/>
              <a:t>9</a:t>
            </a:fld>
            <a:endParaRPr lang="fr-FR"/>
          </a:p>
        </p:txBody>
      </p:sp>
    </p:spTree>
    <p:extLst>
      <p:ext uri="{BB962C8B-B14F-4D97-AF65-F5344CB8AC3E}">
        <p14:creationId xmlns:p14="http://schemas.microsoft.com/office/powerpoint/2010/main" val="368521260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notes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200" kern="1200" dirty="0">
                <a:solidFill>
                  <a:schemeClr val="tx1"/>
                </a:solidFill>
                <a:effectLst/>
                <a:latin typeface="+mn-lt"/>
                <a:ea typeface="+mn-ea"/>
                <a:cs typeface="+mn-cs"/>
              </a:rPr>
              <a:t>New customers and those who have been buying for around 5 years generated the highest revenues. Interestingly, the single-year customers stand out as the group with the highest spending on the new product line. Moreover, the longer a customer has been with the company, the less they tend to purchase the new products. This trend might be because long-term customers already know their preferred products or are less open to trying new offerings.</a:t>
            </a:r>
          </a:p>
          <a:p>
            <a:endParaRPr lang="fr-FR" dirty="0"/>
          </a:p>
        </p:txBody>
      </p:sp>
      <p:sp>
        <p:nvSpPr>
          <p:cNvPr id="4" name="Espace réservé du numéro de diapositive 3"/>
          <p:cNvSpPr>
            <a:spLocks noGrp="1"/>
          </p:cNvSpPr>
          <p:nvPr>
            <p:ph type="sldNum" sz="quarter" idx="5"/>
          </p:nvPr>
        </p:nvSpPr>
        <p:spPr/>
        <p:txBody>
          <a:bodyPr/>
          <a:lstStyle/>
          <a:p>
            <a:fld id="{8513D6CC-A7EA-C74E-8418-085DBF8C1FB2}" type="slidenum">
              <a:rPr lang="fr-FR" smtClean="0"/>
              <a:t>10</a:t>
            </a:fld>
            <a:endParaRPr lang="fr-FR"/>
          </a:p>
        </p:txBody>
      </p:sp>
    </p:spTree>
    <p:extLst>
      <p:ext uri="{BB962C8B-B14F-4D97-AF65-F5344CB8AC3E}">
        <p14:creationId xmlns:p14="http://schemas.microsoft.com/office/powerpoint/2010/main" val="2206713635"/>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notes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200" kern="1200" dirty="0">
                <a:solidFill>
                  <a:schemeClr val="tx1"/>
                </a:solidFill>
                <a:effectLst/>
                <a:latin typeface="+mn-lt"/>
                <a:ea typeface="+mn-ea"/>
                <a:cs typeface="+mn-cs"/>
              </a:rPr>
              <a:t>It seems that the Email + Call is the most efficient way of generating revenue remains really efficient even among the the customer </a:t>
            </a:r>
            <a:r>
              <a:rPr lang="en-US" sz="1200" kern="1200" dirty="0" err="1">
                <a:solidFill>
                  <a:schemeClr val="tx1"/>
                </a:solidFill>
                <a:effectLst/>
                <a:latin typeface="+mn-lt"/>
                <a:ea typeface="+mn-ea"/>
                <a:cs typeface="+mn-cs"/>
              </a:rPr>
              <a:t>loyaly</a:t>
            </a:r>
            <a:r>
              <a:rPr lang="en-US" sz="1200" kern="1200" dirty="0">
                <a:solidFill>
                  <a:schemeClr val="tx1"/>
                </a:solidFill>
                <a:effectLst/>
                <a:latin typeface="+mn-lt"/>
                <a:ea typeface="+mn-ea"/>
                <a:cs typeface="+mn-cs"/>
              </a:rPr>
              <a:t>. Even though, the email can generate higher revenue, because we see many outliers that would show that in some cases, the email is enough to generate a high revenue.</a:t>
            </a:r>
          </a:p>
          <a:p>
            <a:endParaRPr lang="fr-FR" dirty="0"/>
          </a:p>
        </p:txBody>
      </p:sp>
      <p:sp>
        <p:nvSpPr>
          <p:cNvPr id="4" name="Espace réservé du numéro de diapositive 3"/>
          <p:cNvSpPr>
            <a:spLocks noGrp="1"/>
          </p:cNvSpPr>
          <p:nvPr>
            <p:ph type="sldNum" sz="quarter" idx="5"/>
          </p:nvPr>
        </p:nvSpPr>
        <p:spPr/>
        <p:txBody>
          <a:bodyPr/>
          <a:lstStyle/>
          <a:p>
            <a:fld id="{8513D6CC-A7EA-C74E-8418-085DBF8C1FB2}" type="slidenum">
              <a:rPr lang="fr-FR" smtClean="0"/>
              <a:t>11</a:t>
            </a:fld>
            <a:endParaRPr lang="fr-FR"/>
          </a:p>
        </p:txBody>
      </p:sp>
    </p:spTree>
    <p:extLst>
      <p:ext uri="{BB962C8B-B14F-4D97-AF65-F5344CB8AC3E}">
        <p14:creationId xmlns:p14="http://schemas.microsoft.com/office/powerpoint/2010/main" val="2787251214"/>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notes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200" kern="1200" dirty="0">
                <a:solidFill>
                  <a:schemeClr val="tx1"/>
                </a:solidFill>
                <a:effectLst/>
                <a:latin typeface="+mn-lt"/>
                <a:ea typeface="+mn-ea"/>
                <a:cs typeface="+mn-cs"/>
              </a:rPr>
              <a:t>Our analysis showed that the best sales method was the combination of </a:t>
            </a:r>
            <a:r>
              <a:rPr lang="en-US" sz="1200" b="1" kern="1200" dirty="0">
                <a:solidFill>
                  <a:schemeClr val="tx1"/>
                </a:solidFill>
                <a:effectLst/>
                <a:latin typeface="+mn-lt"/>
                <a:ea typeface="+mn-ea"/>
                <a:cs typeface="+mn-cs"/>
              </a:rPr>
              <a:t>Email + Call </a:t>
            </a:r>
            <a:r>
              <a:rPr lang="en-US" sz="1200" kern="1200" dirty="0">
                <a:solidFill>
                  <a:schemeClr val="tx1"/>
                </a:solidFill>
                <a:effectLst/>
                <a:latin typeface="+mn-lt"/>
                <a:ea typeface="+mn-ea"/>
                <a:cs typeface="+mn-cs"/>
              </a:rPr>
              <a:t>based on the revenue. In order for the company to assess and monitor closely each method performance, the revenue, the number of customers and the average revenue needs to be included as key components. Here bellow the equation : </a:t>
            </a:r>
          </a:p>
          <a:p>
            <a:endParaRPr lang="fr-FR" dirty="0"/>
          </a:p>
          <a:p>
            <a:r>
              <a:rPr lang="en-US" sz="1200" kern="1200" dirty="0">
                <a:solidFill>
                  <a:schemeClr val="tx1"/>
                </a:solidFill>
                <a:effectLst/>
                <a:latin typeface="+mn-lt"/>
                <a:ea typeface="+mn-ea"/>
                <a:cs typeface="+mn-cs"/>
              </a:rPr>
              <a:t>When evaluating this metric, sending only emails is a great way to generate a high revenue and reach a wide number of customers. But, sending an email and follow-up with a call a week later has a conversion rate with a higher mean revenue per customer contacted (twice more important than only sending an email). </a:t>
            </a:r>
            <a:endParaRPr lang="fr-FR" dirty="0"/>
          </a:p>
        </p:txBody>
      </p:sp>
      <p:sp>
        <p:nvSpPr>
          <p:cNvPr id="4" name="Espace réservé du numéro de diapositive 3"/>
          <p:cNvSpPr>
            <a:spLocks noGrp="1"/>
          </p:cNvSpPr>
          <p:nvPr>
            <p:ph type="sldNum" sz="quarter" idx="5"/>
          </p:nvPr>
        </p:nvSpPr>
        <p:spPr/>
        <p:txBody>
          <a:bodyPr/>
          <a:lstStyle/>
          <a:p>
            <a:fld id="{8513D6CC-A7EA-C74E-8418-085DBF8C1FB2}" type="slidenum">
              <a:rPr lang="fr-FR" smtClean="0"/>
              <a:t>12</a:t>
            </a:fld>
            <a:endParaRPr lang="fr-FR"/>
          </a:p>
        </p:txBody>
      </p:sp>
    </p:spTree>
    <p:extLst>
      <p:ext uri="{BB962C8B-B14F-4D97-AF65-F5344CB8AC3E}">
        <p14:creationId xmlns:p14="http://schemas.microsoft.com/office/powerpoint/2010/main" val="855103197"/>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Diapositive de titre">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5A5A361C-9BA5-4EDF-5A54-67FE9E220C0A}"/>
              </a:ext>
            </a:extLst>
          </p:cNvPr>
          <p:cNvSpPr>
            <a:spLocks noGrp="1"/>
          </p:cNvSpPr>
          <p:nvPr>
            <p:ph type="ctrTitle"/>
          </p:nvPr>
        </p:nvSpPr>
        <p:spPr>
          <a:xfrm>
            <a:off x="1524000" y="1122363"/>
            <a:ext cx="9144000" cy="2387600"/>
          </a:xfrm>
        </p:spPr>
        <p:txBody>
          <a:bodyPr anchor="b"/>
          <a:lstStyle>
            <a:lvl1pPr algn="ctr">
              <a:defRPr sz="6000"/>
            </a:lvl1pPr>
          </a:lstStyle>
          <a:p>
            <a:r>
              <a:rPr lang="fr-FR"/>
              <a:t>Modifiez le style du titre</a:t>
            </a:r>
          </a:p>
        </p:txBody>
      </p:sp>
      <p:sp>
        <p:nvSpPr>
          <p:cNvPr id="3" name="Sous-titre 2">
            <a:extLst>
              <a:ext uri="{FF2B5EF4-FFF2-40B4-BE49-F238E27FC236}">
                <a16:creationId xmlns:a16="http://schemas.microsoft.com/office/drawing/2014/main" id="{E6341C20-8330-5688-5080-4850C2C33CCF}"/>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fr-FR"/>
              <a:t>Modifiez le style des sous-titres du masque</a:t>
            </a:r>
          </a:p>
        </p:txBody>
      </p:sp>
      <p:sp>
        <p:nvSpPr>
          <p:cNvPr id="4" name="Espace réservé de la date 3">
            <a:extLst>
              <a:ext uri="{FF2B5EF4-FFF2-40B4-BE49-F238E27FC236}">
                <a16:creationId xmlns:a16="http://schemas.microsoft.com/office/drawing/2014/main" id="{5C5EA330-CD3F-72A1-FB2D-74863381BC3A}"/>
              </a:ext>
            </a:extLst>
          </p:cNvPr>
          <p:cNvSpPr>
            <a:spLocks noGrp="1"/>
          </p:cNvSpPr>
          <p:nvPr>
            <p:ph type="dt" sz="half" idx="10"/>
          </p:nvPr>
        </p:nvSpPr>
        <p:spPr/>
        <p:txBody>
          <a:bodyPr/>
          <a:lstStyle/>
          <a:p>
            <a:fld id="{CC823417-4069-0F41-8D8E-219F242D44EC}" type="datetimeFigureOut">
              <a:rPr lang="fr-FR" smtClean="0"/>
              <a:t>29/07/2025</a:t>
            </a:fld>
            <a:endParaRPr lang="fr-FR"/>
          </a:p>
        </p:txBody>
      </p:sp>
      <p:sp>
        <p:nvSpPr>
          <p:cNvPr id="5" name="Espace réservé du pied de page 4">
            <a:extLst>
              <a:ext uri="{FF2B5EF4-FFF2-40B4-BE49-F238E27FC236}">
                <a16:creationId xmlns:a16="http://schemas.microsoft.com/office/drawing/2014/main" id="{6FCFAEDC-59D0-099B-817D-E683C21F1BCE}"/>
              </a:ext>
            </a:extLst>
          </p:cNvPr>
          <p:cNvSpPr>
            <a:spLocks noGrp="1"/>
          </p:cNvSpPr>
          <p:nvPr>
            <p:ph type="ftr" sz="quarter" idx="11"/>
          </p:nvPr>
        </p:nvSpPr>
        <p:spPr/>
        <p:txBody>
          <a:bodyPr/>
          <a:lstStyle/>
          <a:p>
            <a:endParaRPr lang="fr-FR"/>
          </a:p>
        </p:txBody>
      </p:sp>
      <p:sp>
        <p:nvSpPr>
          <p:cNvPr id="6" name="Espace réservé du numéro de diapositive 5">
            <a:extLst>
              <a:ext uri="{FF2B5EF4-FFF2-40B4-BE49-F238E27FC236}">
                <a16:creationId xmlns:a16="http://schemas.microsoft.com/office/drawing/2014/main" id="{F52D67B0-BF5F-680C-A2EB-33286E960AD5}"/>
              </a:ext>
            </a:extLst>
          </p:cNvPr>
          <p:cNvSpPr>
            <a:spLocks noGrp="1"/>
          </p:cNvSpPr>
          <p:nvPr>
            <p:ph type="sldNum" sz="quarter" idx="12"/>
          </p:nvPr>
        </p:nvSpPr>
        <p:spPr/>
        <p:txBody>
          <a:bodyPr/>
          <a:lstStyle/>
          <a:p>
            <a:fld id="{3754881A-DEB3-8248-8CE5-0F39D8EF4C1F}" type="slidenum">
              <a:rPr lang="fr-FR" smtClean="0"/>
              <a:t>‹N°›</a:t>
            </a:fld>
            <a:endParaRPr lang="fr-FR"/>
          </a:p>
        </p:txBody>
      </p:sp>
    </p:spTree>
    <p:extLst>
      <p:ext uri="{BB962C8B-B14F-4D97-AF65-F5344CB8AC3E}">
        <p14:creationId xmlns:p14="http://schemas.microsoft.com/office/powerpoint/2010/main" val="475737151"/>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re et contenu">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3A7D5335-3147-4BCB-4FF9-DE2CBD6CEFDD}"/>
              </a:ext>
            </a:extLst>
          </p:cNvPr>
          <p:cNvSpPr>
            <a:spLocks noGrp="1"/>
          </p:cNvSpPr>
          <p:nvPr>
            <p:ph type="title"/>
          </p:nvPr>
        </p:nvSpPr>
        <p:spPr/>
        <p:txBody>
          <a:bodyPr/>
          <a:lstStyle/>
          <a:p>
            <a:r>
              <a:rPr lang="fr-FR"/>
              <a:t>Modifiez le style du titre</a:t>
            </a:r>
          </a:p>
        </p:txBody>
      </p:sp>
      <p:sp>
        <p:nvSpPr>
          <p:cNvPr id="3" name="Espace réservé du contenu 2">
            <a:extLst>
              <a:ext uri="{FF2B5EF4-FFF2-40B4-BE49-F238E27FC236}">
                <a16:creationId xmlns:a16="http://schemas.microsoft.com/office/drawing/2014/main" id="{16A5A029-165B-335E-2404-554B9C2C08D1}"/>
              </a:ext>
            </a:extLst>
          </p:cNvPr>
          <p:cNvSpPr>
            <a:spLocks noGrp="1"/>
          </p:cNvSpPr>
          <p:nvPr>
            <p:ph idx="1"/>
          </p:nvPr>
        </p:nvSpPr>
        <p:spPr/>
        <p:txBody>
          <a:body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
        <p:nvSpPr>
          <p:cNvPr id="4" name="Espace réservé de la date 3">
            <a:extLst>
              <a:ext uri="{FF2B5EF4-FFF2-40B4-BE49-F238E27FC236}">
                <a16:creationId xmlns:a16="http://schemas.microsoft.com/office/drawing/2014/main" id="{8548E7FE-3C92-261D-55F0-D78FA301905F}"/>
              </a:ext>
            </a:extLst>
          </p:cNvPr>
          <p:cNvSpPr>
            <a:spLocks noGrp="1"/>
          </p:cNvSpPr>
          <p:nvPr>
            <p:ph type="dt" sz="half" idx="10"/>
          </p:nvPr>
        </p:nvSpPr>
        <p:spPr/>
        <p:txBody>
          <a:bodyPr/>
          <a:lstStyle/>
          <a:p>
            <a:fld id="{CC823417-4069-0F41-8D8E-219F242D44EC}" type="datetimeFigureOut">
              <a:rPr lang="fr-FR" smtClean="0"/>
              <a:t>29/07/2025</a:t>
            </a:fld>
            <a:endParaRPr lang="fr-FR"/>
          </a:p>
        </p:txBody>
      </p:sp>
      <p:sp>
        <p:nvSpPr>
          <p:cNvPr id="5" name="Espace réservé du pied de page 4">
            <a:extLst>
              <a:ext uri="{FF2B5EF4-FFF2-40B4-BE49-F238E27FC236}">
                <a16:creationId xmlns:a16="http://schemas.microsoft.com/office/drawing/2014/main" id="{58FC4865-AE99-A4D7-3B93-F951B92CE9AD}"/>
              </a:ext>
            </a:extLst>
          </p:cNvPr>
          <p:cNvSpPr>
            <a:spLocks noGrp="1"/>
          </p:cNvSpPr>
          <p:nvPr>
            <p:ph type="ftr" sz="quarter" idx="11"/>
          </p:nvPr>
        </p:nvSpPr>
        <p:spPr/>
        <p:txBody>
          <a:bodyPr/>
          <a:lstStyle/>
          <a:p>
            <a:endParaRPr lang="fr-FR"/>
          </a:p>
        </p:txBody>
      </p:sp>
      <p:sp>
        <p:nvSpPr>
          <p:cNvPr id="6" name="Espace réservé du numéro de diapositive 5">
            <a:extLst>
              <a:ext uri="{FF2B5EF4-FFF2-40B4-BE49-F238E27FC236}">
                <a16:creationId xmlns:a16="http://schemas.microsoft.com/office/drawing/2014/main" id="{B3A937C6-E50A-8A40-D604-1AEB5311F974}"/>
              </a:ext>
            </a:extLst>
          </p:cNvPr>
          <p:cNvSpPr>
            <a:spLocks noGrp="1"/>
          </p:cNvSpPr>
          <p:nvPr>
            <p:ph type="sldNum" sz="quarter" idx="12"/>
          </p:nvPr>
        </p:nvSpPr>
        <p:spPr/>
        <p:txBody>
          <a:bodyPr/>
          <a:lstStyle/>
          <a:p>
            <a:fld id="{3754881A-DEB3-8248-8CE5-0F39D8EF4C1F}" type="slidenum">
              <a:rPr lang="fr-FR" smtClean="0"/>
              <a:t>‹N°›</a:t>
            </a:fld>
            <a:endParaRPr lang="fr-FR"/>
          </a:p>
        </p:txBody>
      </p:sp>
    </p:spTree>
    <p:extLst>
      <p:ext uri="{BB962C8B-B14F-4D97-AF65-F5344CB8AC3E}">
        <p14:creationId xmlns:p14="http://schemas.microsoft.com/office/powerpoint/2010/main" val="2641487034"/>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Titre de section">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3CA7DC9A-D675-E80E-584C-F38E12AEF47B}"/>
              </a:ext>
            </a:extLst>
          </p:cNvPr>
          <p:cNvSpPr>
            <a:spLocks noGrp="1"/>
          </p:cNvSpPr>
          <p:nvPr>
            <p:ph type="title"/>
          </p:nvPr>
        </p:nvSpPr>
        <p:spPr>
          <a:xfrm>
            <a:off x="831850" y="1709738"/>
            <a:ext cx="10515600" cy="2852737"/>
          </a:xfrm>
        </p:spPr>
        <p:txBody>
          <a:bodyPr anchor="b"/>
          <a:lstStyle>
            <a:lvl1pPr>
              <a:defRPr sz="6000"/>
            </a:lvl1pPr>
          </a:lstStyle>
          <a:p>
            <a:r>
              <a:rPr lang="fr-FR"/>
              <a:t>Modifiez le style du titre</a:t>
            </a:r>
          </a:p>
        </p:txBody>
      </p:sp>
      <p:sp>
        <p:nvSpPr>
          <p:cNvPr id="3" name="Espace réservé du texte 2">
            <a:extLst>
              <a:ext uri="{FF2B5EF4-FFF2-40B4-BE49-F238E27FC236}">
                <a16:creationId xmlns:a16="http://schemas.microsoft.com/office/drawing/2014/main" id="{89C0AC3B-EC7E-95EF-7867-546DBE2559B9}"/>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fr-FR"/>
              <a:t>Cliquez pour modifier les styles du texte du masque</a:t>
            </a:r>
          </a:p>
        </p:txBody>
      </p:sp>
      <p:sp>
        <p:nvSpPr>
          <p:cNvPr id="4" name="Espace réservé de la date 3">
            <a:extLst>
              <a:ext uri="{FF2B5EF4-FFF2-40B4-BE49-F238E27FC236}">
                <a16:creationId xmlns:a16="http://schemas.microsoft.com/office/drawing/2014/main" id="{23BC9E07-7C52-B62D-0F3E-9171CFCE58C7}"/>
              </a:ext>
            </a:extLst>
          </p:cNvPr>
          <p:cNvSpPr>
            <a:spLocks noGrp="1"/>
          </p:cNvSpPr>
          <p:nvPr>
            <p:ph type="dt" sz="half" idx="10"/>
          </p:nvPr>
        </p:nvSpPr>
        <p:spPr/>
        <p:txBody>
          <a:bodyPr/>
          <a:lstStyle/>
          <a:p>
            <a:fld id="{CC823417-4069-0F41-8D8E-219F242D44EC}" type="datetimeFigureOut">
              <a:rPr lang="fr-FR" smtClean="0"/>
              <a:t>29/07/2025</a:t>
            </a:fld>
            <a:endParaRPr lang="fr-FR"/>
          </a:p>
        </p:txBody>
      </p:sp>
      <p:sp>
        <p:nvSpPr>
          <p:cNvPr id="5" name="Espace réservé du pied de page 4">
            <a:extLst>
              <a:ext uri="{FF2B5EF4-FFF2-40B4-BE49-F238E27FC236}">
                <a16:creationId xmlns:a16="http://schemas.microsoft.com/office/drawing/2014/main" id="{481B8399-974A-51F2-AA87-CB1EA1267074}"/>
              </a:ext>
            </a:extLst>
          </p:cNvPr>
          <p:cNvSpPr>
            <a:spLocks noGrp="1"/>
          </p:cNvSpPr>
          <p:nvPr>
            <p:ph type="ftr" sz="quarter" idx="11"/>
          </p:nvPr>
        </p:nvSpPr>
        <p:spPr/>
        <p:txBody>
          <a:bodyPr/>
          <a:lstStyle/>
          <a:p>
            <a:endParaRPr lang="fr-FR"/>
          </a:p>
        </p:txBody>
      </p:sp>
      <p:sp>
        <p:nvSpPr>
          <p:cNvPr id="6" name="Espace réservé du numéro de diapositive 5">
            <a:extLst>
              <a:ext uri="{FF2B5EF4-FFF2-40B4-BE49-F238E27FC236}">
                <a16:creationId xmlns:a16="http://schemas.microsoft.com/office/drawing/2014/main" id="{0B357496-2ED4-D38A-F24B-03534C993346}"/>
              </a:ext>
            </a:extLst>
          </p:cNvPr>
          <p:cNvSpPr>
            <a:spLocks noGrp="1"/>
          </p:cNvSpPr>
          <p:nvPr>
            <p:ph type="sldNum" sz="quarter" idx="12"/>
          </p:nvPr>
        </p:nvSpPr>
        <p:spPr/>
        <p:txBody>
          <a:bodyPr/>
          <a:lstStyle/>
          <a:p>
            <a:fld id="{3754881A-DEB3-8248-8CE5-0F39D8EF4C1F}" type="slidenum">
              <a:rPr lang="fr-FR" smtClean="0"/>
              <a:t>‹N°›</a:t>
            </a:fld>
            <a:endParaRPr lang="fr-FR"/>
          </a:p>
        </p:txBody>
      </p:sp>
    </p:spTree>
    <p:extLst>
      <p:ext uri="{BB962C8B-B14F-4D97-AF65-F5344CB8AC3E}">
        <p14:creationId xmlns:p14="http://schemas.microsoft.com/office/powerpoint/2010/main" val="3740468057"/>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Deux contenus">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48DFC043-DB28-DCA4-C5DC-997478F53B48}"/>
              </a:ext>
            </a:extLst>
          </p:cNvPr>
          <p:cNvSpPr>
            <a:spLocks noGrp="1"/>
          </p:cNvSpPr>
          <p:nvPr>
            <p:ph type="title"/>
          </p:nvPr>
        </p:nvSpPr>
        <p:spPr/>
        <p:txBody>
          <a:bodyPr/>
          <a:lstStyle/>
          <a:p>
            <a:r>
              <a:rPr lang="fr-FR"/>
              <a:t>Modifiez le style du titre</a:t>
            </a:r>
          </a:p>
        </p:txBody>
      </p:sp>
      <p:sp>
        <p:nvSpPr>
          <p:cNvPr id="3" name="Espace réservé du contenu 2">
            <a:extLst>
              <a:ext uri="{FF2B5EF4-FFF2-40B4-BE49-F238E27FC236}">
                <a16:creationId xmlns:a16="http://schemas.microsoft.com/office/drawing/2014/main" id="{4405E956-763D-F21F-0008-5334DE1D748D}"/>
              </a:ext>
            </a:extLst>
          </p:cNvPr>
          <p:cNvSpPr>
            <a:spLocks noGrp="1"/>
          </p:cNvSpPr>
          <p:nvPr>
            <p:ph sz="half" idx="1"/>
          </p:nvPr>
        </p:nvSpPr>
        <p:spPr>
          <a:xfrm>
            <a:off x="838200" y="1825625"/>
            <a:ext cx="5181600" cy="4351338"/>
          </a:xfrm>
        </p:spPr>
        <p:txBody>
          <a:body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
        <p:nvSpPr>
          <p:cNvPr id="4" name="Espace réservé du contenu 3">
            <a:extLst>
              <a:ext uri="{FF2B5EF4-FFF2-40B4-BE49-F238E27FC236}">
                <a16:creationId xmlns:a16="http://schemas.microsoft.com/office/drawing/2014/main" id="{61791192-2DE3-583D-118E-FE5D53D12C17}"/>
              </a:ext>
            </a:extLst>
          </p:cNvPr>
          <p:cNvSpPr>
            <a:spLocks noGrp="1"/>
          </p:cNvSpPr>
          <p:nvPr>
            <p:ph sz="half" idx="2"/>
          </p:nvPr>
        </p:nvSpPr>
        <p:spPr>
          <a:xfrm>
            <a:off x="6172200" y="1825625"/>
            <a:ext cx="5181600" cy="4351338"/>
          </a:xfrm>
        </p:spPr>
        <p:txBody>
          <a:body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
        <p:nvSpPr>
          <p:cNvPr id="5" name="Espace réservé de la date 4">
            <a:extLst>
              <a:ext uri="{FF2B5EF4-FFF2-40B4-BE49-F238E27FC236}">
                <a16:creationId xmlns:a16="http://schemas.microsoft.com/office/drawing/2014/main" id="{B3D2B206-E489-E5E4-9349-675B59F4A690}"/>
              </a:ext>
            </a:extLst>
          </p:cNvPr>
          <p:cNvSpPr>
            <a:spLocks noGrp="1"/>
          </p:cNvSpPr>
          <p:nvPr>
            <p:ph type="dt" sz="half" idx="10"/>
          </p:nvPr>
        </p:nvSpPr>
        <p:spPr/>
        <p:txBody>
          <a:bodyPr/>
          <a:lstStyle/>
          <a:p>
            <a:fld id="{CC823417-4069-0F41-8D8E-219F242D44EC}" type="datetimeFigureOut">
              <a:rPr lang="fr-FR" smtClean="0"/>
              <a:t>29/07/2025</a:t>
            </a:fld>
            <a:endParaRPr lang="fr-FR"/>
          </a:p>
        </p:txBody>
      </p:sp>
      <p:sp>
        <p:nvSpPr>
          <p:cNvPr id="6" name="Espace réservé du pied de page 5">
            <a:extLst>
              <a:ext uri="{FF2B5EF4-FFF2-40B4-BE49-F238E27FC236}">
                <a16:creationId xmlns:a16="http://schemas.microsoft.com/office/drawing/2014/main" id="{A8412862-0B1A-8FC5-5561-AAAF7E61692D}"/>
              </a:ext>
            </a:extLst>
          </p:cNvPr>
          <p:cNvSpPr>
            <a:spLocks noGrp="1"/>
          </p:cNvSpPr>
          <p:nvPr>
            <p:ph type="ftr" sz="quarter" idx="11"/>
          </p:nvPr>
        </p:nvSpPr>
        <p:spPr/>
        <p:txBody>
          <a:bodyPr/>
          <a:lstStyle/>
          <a:p>
            <a:endParaRPr lang="fr-FR"/>
          </a:p>
        </p:txBody>
      </p:sp>
      <p:sp>
        <p:nvSpPr>
          <p:cNvPr id="7" name="Espace réservé du numéro de diapositive 6">
            <a:extLst>
              <a:ext uri="{FF2B5EF4-FFF2-40B4-BE49-F238E27FC236}">
                <a16:creationId xmlns:a16="http://schemas.microsoft.com/office/drawing/2014/main" id="{FE68FAC7-66B0-9788-2C47-CB114FFBEA40}"/>
              </a:ext>
            </a:extLst>
          </p:cNvPr>
          <p:cNvSpPr>
            <a:spLocks noGrp="1"/>
          </p:cNvSpPr>
          <p:nvPr>
            <p:ph type="sldNum" sz="quarter" idx="12"/>
          </p:nvPr>
        </p:nvSpPr>
        <p:spPr/>
        <p:txBody>
          <a:bodyPr/>
          <a:lstStyle/>
          <a:p>
            <a:fld id="{3754881A-DEB3-8248-8CE5-0F39D8EF4C1F}" type="slidenum">
              <a:rPr lang="fr-FR" smtClean="0"/>
              <a:t>‹N°›</a:t>
            </a:fld>
            <a:endParaRPr lang="fr-FR"/>
          </a:p>
        </p:txBody>
      </p:sp>
    </p:spTree>
    <p:extLst>
      <p:ext uri="{BB962C8B-B14F-4D97-AF65-F5344CB8AC3E}">
        <p14:creationId xmlns:p14="http://schemas.microsoft.com/office/powerpoint/2010/main" val="3792325446"/>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aison">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6FC1B9DA-4B67-B102-A440-3847D53A995E}"/>
              </a:ext>
            </a:extLst>
          </p:cNvPr>
          <p:cNvSpPr>
            <a:spLocks noGrp="1"/>
          </p:cNvSpPr>
          <p:nvPr>
            <p:ph type="title"/>
          </p:nvPr>
        </p:nvSpPr>
        <p:spPr>
          <a:xfrm>
            <a:off x="839788" y="365125"/>
            <a:ext cx="10515600" cy="1325563"/>
          </a:xfrm>
        </p:spPr>
        <p:txBody>
          <a:bodyPr/>
          <a:lstStyle/>
          <a:p>
            <a:r>
              <a:rPr lang="fr-FR"/>
              <a:t>Modifiez le style du titre</a:t>
            </a:r>
          </a:p>
        </p:txBody>
      </p:sp>
      <p:sp>
        <p:nvSpPr>
          <p:cNvPr id="3" name="Espace réservé du texte 2">
            <a:extLst>
              <a:ext uri="{FF2B5EF4-FFF2-40B4-BE49-F238E27FC236}">
                <a16:creationId xmlns:a16="http://schemas.microsoft.com/office/drawing/2014/main" id="{BEBD0B51-A40C-A87C-6B8C-8297D3309521}"/>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fr-FR"/>
              <a:t>Cliquez pour modifier les styles du texte du masque</a:t>
            </a:r>
          </a:p>
        </p:txBody>
      </p:sp>
      <p:sp>
        <p:nvSpPr>
          <p:cNvPr id="4" name="Espace réservé du contenu 3">
            <a:extLst>
              <a:ext uri="{FF2B5EF4-FFF2-40B4-BE49-F238E27FC236}">
                <a16:creationId xmlns:a16="http://schemas.microsoft.com/office/drawing/2014/main" id="{A5EA81B3-6ADA-6317-84E5-963D9634F9CA}"/>
              </a:ext>
            </a:extLst>
          </p:cNvPr>
          <p:cNvSpPr>
            <a:spLocks noGrp="1"/>
          </p:cNvSpPr>
          <p:nvPr>
            <p:ph sz="half" idx="2"/>
          </p:nvPr>
        </p:nvSpPr>
        <p:spPr>
          <a:xfrm>
            <a:off x="839788" y="2505075"/>
            <a:ext cx="5157787" cy="3684588"/>
          </a:xfrm>
        </p:spPr>
        <p:txBody>
          <a:body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
        <p:nvSpPr>
          <p:cNvPr id="5" name="Espace réservé du texte 4">
            <a:extLst>
              <a:ext uri="{FF2B5EF4-FFF2-40B4-BE49-F238E27FC236}">
                <a16:creationId xmlns:a16="http://schemas.microsoft.com/office/drawing/2014/main" id="{C10ED115-0F2D-B5A2-B775-B0423F03A62F}"/>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fr-FR"/>
              <a:t>Cliquez pour modifier les styles du texte du masque</a:t>
            </a:r>
          </a:p>
        </p:txBody>
      </p:sp>
      <p:sp>
        <p:nvSpPr>
          <p:cNvPr id="6" name="Espace réservé du contenu 5">
            <a:extLst>
              <a:ext uri="{FF2B5EF4-FFF2-40B4-BE49-F238E27FC236}">
                <a16:creationId xmlns:a16="http://schemas.microsoft.com/office/drawing/2014/main" id="{B24D6B99-7B4D-F64A-AA79-50CA5CD16CEA}"/>
              </a:ext>
            </a:extLst>
          </p:cNvPr>
          <p:cNvSpPr>
            <a:spLocks noGrp="1"/>
          </p:cNvSpPr>
          <p:nvPr>
            <p:ph sz="quarter" idx="4"/>
          </p:nvPr>
        </p:nvSpPr>
        <p:spPr>
          <a:xfrm>
            <a:off x="6172200" y="2505075"/>
            <a:ext cx="5183188" cy="3684588"/>
          </a:xfrm>
        </p:spPr>
        <p:txBody>
          <a:body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
        <p:nvSpPr>
          <p:cNvPr id="7" name="Espace réservé de la date 6">
            <a:extLst>
              <a:ext uri="{FF2B5EF4-FFF2-40B4-BE49-F238E27FC236}">
                <a16:creationId xmlns:a16="http://schemas.microsoft.com/office/drawing/2014/main" id="{977A8E1E-B999-317B-473F-9F6625D1B73F}"/>
              </a:ext>
            </a:extLst>
          </p:cNvPr>
          <p:cNvSpPr>
            <a:spLocks noGrp="1"/>
          </p:cNvSpPr>
          <p:nvPr>
            <p:ph type="dt" sz="half" idx="10"/>
          </p:nvPr>
        </p:nvSpPr>
        <p:spPr/>
        <p:txBody>
          <a:bodyPr/>
          <a:lstStyle/>
          <a:p>
            <a:fld id="{CC823417-4069-0F41-8D8E-219F242D44EC}" type="datetimeFigureOut">
              <a:rPr lang="fr-FR" smtClean="0"/>
              <a:t>29/07/2025</a:t>
            </a:fld>
            <a:endParaRPr lang="fr-FR"/>
          </a:p>
        </p:txBody>
      </p:sp>
      <p:sp>
        <p:nvSpPr>
          <p:cNvPr id="8" name="Espace réservé du pied de page 7">
            <a:extLst>
              <a:ext uri="{FF2B5EF4-FFF2-40B4-BE49-F238E27FC236}">
                <a16:creationId xmlns:a16="http://schemas.microsoft.com/office/drawing/2014/main" id="{5B1D234D-97A4-D3AC-521D-60E4CB9A526C}"/>
              </a:ext>
            </a:extLst>
          </p:cNvPr>
          <p:cNvSpPr>
            <a:spLocks noGrp="1"/>
          </p:cNvSpPr>
          <p:nvPr>
            <p:ph type="ftr" sz="quarter" idx="11"/>
          </p:nvPr>
        </p:nvSpPr>
        <p:spPr/>
        <p:txBody>
          <a:bodyPr/>
          <a:lstStyle/>
          <a:p>
            <a:endParaRPr lang="fr-FR"/>
          </a:p>
        </p:txBody>
      </p:sp>
      <p:sp>
        <p:nvSpPr>
          <p:cNvPr id="9" name="Espace réservé du numéro de diapositive 8">
            <a:extLst>
              <a:ext uri="{FF2B5EF4-FFF2-40B4-BE49-F238E27FC236}">
                <a16:creationId xmlns:a16="http://schemas.microsoft.com/office/drawing/2014/main" id="{2F321C17-3E38-E3DB-2D31-10E074490E75}"/>
              </a:ext>
            </a:extLst>
          </p:cNvPr>
          <p:cNvSpPr>
            <a:spLocks noGrp="1"/>
          </p:cNvSpPr>
          <p:nvPr>
            <p:ph type="sldNum" sz="quarter" idx="12"/>
          </p:nvPr>
        </p:nvSpPr>
        <p:spPr/>
        <p:txBody>
          <a:bodyPr/>
          <a:lstStyle/>
          <a:p>
            <a:fld id="{3754881A-DEB3-8248-8CE5-0F39D8EF4C1F}" type="slidenum">
              <a:rPr lang="fr-FR" smtClean="0"/>
              <a:t>‹N°›</a:t>
            </a:fld>
            <a:endParaRPr lang="fr-FR"/>
          </a:p>
        </p:txBody>
      </p:sp>
    </p:spTree>
    <p:extLst>
      <p:ext uri="{BB962C8B-B14F-4D97-AF65-F5344CB8AC3E}">
        <p14:creationId xmlns:p14="http://schemas.microsoft.com/office/powerpoint/2010/main" val="406864458"/>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re seul">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772ED873-F168-DE75-351F-994221DA694E}"/>
              </a:ext>
            </a:extLst>
          </p:cNvPr>
          <p:cNvSpPr>
            <a:spLocks noGrp="1"/>
          </p:cNvSpPr>
          <p:nvPr>
            <p:ph type="title"/>
          </p:nvPr>
        </p:nvSpPr>
        <p:spPr/>
        <p:txBody>
          <a:bodyPr/>
          <a:lstStyle/>
          <a:p>
            <a:r>
              <a:rPr lang="fr-FR"/>
              <a:t>Modifiez le style du titre</a:t>
            </a:r>
          </a:p>
        </p:txBody>
      </p:sp>
      <p:sp>
        <p:nvSpPr>
          <p:cNvPr id="3" name="Espace réservé de la date 2">
            <a:extLst>
              <a:ext uri="{FF2B5EF4-FFF2-40B4-BE49-F238E27FC236}">
                <a16:creationId xmlns:a16="http://schemas.microsoft.com/office/drawing/2014/main" id="{4AFDBE00-5440-DCD1-E3C7-2C72640F8B9C}"/>
              </a:ext>
            </a:extLst>
          </p:cNvPr>
          <p:cNvSpPr>
            <a:spLocks noGrp="1"/>
          </p:cNvSpPr>
          <p:nvPr>
            <p:ph type="dt" sz="half" idx="10"/>
          </p:nvPr>
        </p:nvSpPr>
        <p:spPr/>
        <p:txBody>
          <a:bodyPr/>
          <a:lstStyle/>
          <a:p>
            <a:fld id="{CC823417-4069-0F41-8D8E-219F242D44EC}" type="datetimeFigureOut">
              <a:rPr lang="fr-FR" smtClean="0"/>
              <a:t>29/07/2025</a:t>
            </a:fld>
            <a:endParaRPr lang="fr-FR"/>
          </a:p>
        </p:txBody>
      </p:sp>
      <p:sp>
        <p:nvSpPr>
          <p:cNvPr id="4" name="Espace réservé du pied de page 3">
            <a:extLst>
              <a:ext uri="{FF2B5EF4-FFF2-40B4-BE49-F238E27FC236}">
                <a16:creationId xmlns:a16="http://schemas.microsoft.com/office/drawing/2014/main" id="{D600B393-C6FF-A48C-8B40-CA789F4F6FB2}"/>
              </a:ext>
            </a:extLst>
          </p:cNvPr>
          <p:cNvSpPr>
            <a:spLocks noGrp="1"/>
          </p:cNvSpPr>
          <p:nvPr>
            <p:ph type="ftr" sz="quarter" idx="11"/>
          </p:nvPr>
        </p:nvSpPr>
        <p:spPr/>
        <p:txBody>
          <a:bodyPr/>
          <a:lstStyle/>
          <a:p>
            <a:endParaRPr lang="fr-FR"/>
          </a:p>
        </p:txBody>
      </p:sp>
      <p:sp>
        <p:nvSpPr>
          <p:cNvPr id="5" name="Espace réservé du numéro de diapositive 4">
            <a:extLst>
              <a:ext uri="{FF2B5EF4-FFF2-40B4-BE49-F238E27FC236}">
                <a16:creationId xmlns:a16="http://schemas.microsoft.com/office/drawing/2014/main" id="{5A188F01-ED5D-4197-133C-68769BBEA854}"/>
              </a:ext>
            </a:extLst>
          </p:cNvPr>
          <p:cNvSpPr>
            <a:spLocks noGrp="1"/>
          </p:cNvSpPr>
          <p:nvPr>
            <p:ph type="sldNum" sz="quarter" idx="12"/>
          </p:nvPr>
        </p:nvSpPr>
        <p:spPr/>
        <p:txBody>
          <a:bodyPr/>
          <a:lstStyle/>
          <a:p>
            <a:fld id="{3754881A-DEB3-8248-8CE5-0F39D8EF4C1F}" type="slidenum">
              <a:rPr lang="fr-FR" smtClean="0"/>
              <a:t>‹N°›</a:t>
            </a:fld>
            <a:endParaRPr lang="fr-FR"/>
          </a:p>
        </p:txBody>
      </p:sp>
    </p:spTree>
    <p:extLst>
      <p:ext uri="{BB962C8B-B14F-4D97-AF65-F5344CB8AC3E}">
        <p14:creationId xmlns:p14="http://schemas.microsoft.com/office/powerpoint/2010/main" val="1553741019"/>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Vide">
    <p:spTree>
      <p:nvGrpSpPr>
        <p:cNvPr id="1" name=""/>
        <p:cNvGrpSpPr/>
        <p:nvPr/>
      </p:nvGrpSpPr>
      <p:grpSpPr>
        <a:xfrm>
          <a:off x="0" y="0"/>
          <a:ext cx="0" cy="0"/>
          <a:chOff x="0" y="0"/>
          <a:chExt cx="0" cy="0"/>
        </a:xfrm>
      </p:grpSpPr>
      <p:sp>
        <p:nvSpPr>
          <p:cNvPr id="2" name="Espace réservé de la date 1">
            <a:extLst>
              <a:ext uri="{FF2B5EF4-FFF2-40B4-BE49-F238E27FC236}">
                <a16:creationId xmlns:a16="http://schemas.microsoft.com/office/drawing/2014/main" id="{4AB601CF-721E-CFAC-279E-9639C55D93E8}"/>
              </a:ext>
            </a:extLst>
          </p:cNvPr>
          <p:cNvSpPr>
            <a:spLocks noGrp="1"/>
          </p:cNvSpPr>
          <p:nvPr>
            <p:ph type="dt" sz="half" idx="10"/>
          </p:nvPr>
        </p:nvSpPr>
        <p:spPr/>
        <p:txBody>
          <a:bodyPr/>
          <a:lstStyle/>
          <a:p>
            <a:fld id="{CC823417-4069-0F41-8D8E-219F242D44EC}" type="datetimeFigureOut">
              <a:rPr lang="fr-FR" smtClean="0"/>
              <a:t>29/07/2025</a:t>
            </a:fld>
            <a:endParaRPr lang="fr-FR"/>
          </a:p>
        </p:txBody>
      </p:sp>
      <p:sp>
        <p:nvSpPr>
          <p:cNvPr id="3" name="Espace réservé du pied de page 2">
            <a:extLst>
              <a:ext uri="{FF2B5EF4-FFF2-40B4-BE49-F238E27FC236}">
                <a16:creationId xmlns:a16="http://schemas.microsoft.com/office/drawing/2014/main" id="{B0401880-A597-6FA4-2C87-731013EBFBE2}"/>
              </a:ext>
            </a:extLst>
          </p:cNvPr>
          <p:cNvSpPr>
            <a:spLocks noGrp="1"/>
          </p:cNvSpPr>
          <p:nvPr>
            <p:ph type="ftr" sz="quarter" idx="11"/>
          </p:nvPr>
        </p:nvSpPr>
        <p:spPr/>
        <p:txBody>
          <a:bodyPr/>
          <a:lstStyle/>
          <a:p>
            <a:endParaRPr lang="fr-FR"/>
          </a:p>
        </p:txBody>
      </p:sp>
      <p:sp>
        <p:nvSpPr>
          <p:cNvPr id="4" name="Espace réservé du numéro de diapositive 3">
            <a:extLst>
              <a:ext uri="{FF2B5EF4-FFF2-40B4-BE49-F238E27FC236}">
                <a16:creationId xmlns:a16="http://schemas.microsoft.com/office/drawing/2014/main" id="{CF9BE1E5-01AA-2D77-E110-9BEBE1EFB0C5}"/>
              </a:ext>
            </a:extLst>
          </p:cNvPr>
          <p:cNvSpPr>
            <a:spLocks noGrp="1"/>
          </p:cNvSpPr>
          <p:nvPr>
            <p:ph type="sldNum" sz="quarter" idx="12"/>
          </p:nvPr>
        </p:nvSpPr>
        <p:spPr/>
        <p:txBody>
          <a:bodyPr/>
          <a:lstStyle/>
          <a:p>
            <a:fld id="{3754881A-DEB3-8248-8CE5-0F39D8EF4C1F}" type="slidenum">
              <a:rPr lang="fr-FR" smtClean="0"/>
              <a:t>‹N°›</a:t>
            </a:fld>
            <a:endParaRPr lang="fr-FR"/>
          </a:p>
        </p:txBody>
      </p:sp>
    </p:spTree>
    <p:extLst>
      <p:ext uri="{BB962C8B-B14F-4D97-AF65-F5344CB8AC3E}">
        <p14:creationId xmlns:p14="http://schemas.microsoft.com/office/powerpoint/2010/main" val="148782235"/>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u avec légende">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6F1F4B0F-8206-62DC-939E-66936348BEAD}"/>
              </a:ext>
            </a:extLst>
          </p:cNvPr>
          <p:cNvSpPr>
            <a:spLocks noGrp="1"/>
          </p:cNvSpPr>
          <p:nvPr>
            <p:ph type="title"/>
          </p:nvPr>
        </p:nvSpPr>
        <p:spPr>
          <a:xfrm>
            <a:off x="839788" y="457200"/>
            <a:ext cx="3932237" cy="1600200"/>
          </a:xfrm>
        </p:spPr>
        <p:txBody>
          <a:bodyPr anchor="b"/>
          <a:lstStyle>
            <a:lvl1pPr>
              <a:defRPr sz="3200"/>
            </a:lvl1pPr>
          </a:lstStyle>
          <a:p>
            <a:r>
              <a:rPr lang="fr-FR"/>
              <a:t>Modifiez le style du titre</a:t>
            </a:r>
          </a:p>
        </p:txBody>
      </p:sp>
      <p:sp>
        <p:nvSpPr>
          <p:cNvPr id="3" name="Espace réservé du contenu 2">
            <a:extLst>
              <a:ext uri="{FF2B5EF4-FFF2-40B4-BE49-F238E27FC236}">
                <a16:creationId xmlns:a16="http://schemas.microsoft.com/office/drawing/2014/main" id="{B080E679-C2E2-D999-F0AD-E85525651D34}"/>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
        <p:nvSpPr>
          <p:cNvPr id="4" name="Espace réservé du texte 3">
            <a:extLst>
              <a:ext uri="{FF2B5EF4-FFF2-40B4-BE49-F238E27FC236}">
                <a16:creationId xmlns:a16="http://schemas.microsoft.com/office/drawing/2014/main" id="{BE218F39-E005-EE77-E5C5-FB3AEB1868E4}"/>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fr-FR"/>
              <a:t>Cliquez pour modifier les styles du texte du masque</a:t>
            </a:r>
          </a:p>
        </p:txBody>
      </p:sp>
      <p:sp>
        <p:nvSpPr>
          <p:cNvPr id="5" name="Espace réservé de la date 4">
            <a:extLst>
              <a:ext uri="{FF2B5EF4-FFF2-40B4-BE49-F238E27FC236}">
                <a16:creationId xmlns:a16="http://schemas.microsoft.com/office/drawing/2014/main" id="{2F841A41-5DED-D383-971C-CE6767D441A6}"/>
              </a:ext>
            </a:extLst>
          </p:cNvPr>
          <p:cNvSpPr>
            <a:spLocks noGrp="1"/>
          </p:cNvSpPr>
          <p:nvPr>
            <p:ph type="dt" sz="half" idx="10"/>
          </p:nvPr>
        </p:nvSpPr>
        <p:spPr/>
        <p:txBody>
          <a:bodyPr/>
          <a:lstStyle/>
          <a:p>
            <a:fld id="{CC823417-4069-0F41-8D8E-219F242D44EC}" type="datetimeFigureOut">
              <a:rPr lang="fr-FR" smtClean="0"/>
              <a:t>29/07/2025</a:t>
            </a:fld>
            <a:endParaRPr lang="fr-FR"/>
          </a:p>
        </p:txBody>
      </p:sp>
      <p:sp>
        <p:nvSpPr>
          <p:cNvPr id="6" name="Espace réservé du pied de page 5">
            <a:extLst>
              <a:ext uri="{FF2B5EF4-FFF2-40B4-BE49-F238E27FC236}">
                <a16:creationId xmlns:a16="http://schemas.microsoft.com/office/drawing/2014/main" id="{D1315401-5781-5975-031C-6C526FA229A8}"/>
              </a:ext>
            </a:extLst>
          </p:cNvPr>
          <p:cNvSpPr>
            <a:spLocks noGrp="1"/>
          </p:cNvSpPr>
          <p:nvPr>
            <p:ph type="ftr" sz="quarter" idx="11"/>
          </p:nvPr>
        </p:nvSpPr>
        <p:spPr/>
        <p:txBody>
          <a:bodyPr/>
          <a:lstStyle/>
          <a:p>
            <a:endParaRPr lang="fr-FR"/>
          </a:p>
        </p:txBody>
      </p:sp>
      <p:sp>
        <p:nvSpPr>
          <p:cNvPr id="7" name="Espace réservé du numéro de diapositive 6">
            <a:extLst>
              <a:ext uri="{FF2B5EF4-FFF2-40B4-BE49-F238E27FC236}">
                <a16:creationId xmlns:a16="http://schemas.microsoft.com/office/drawing/2014/main" id="{E9056A42-FAC0-4A88-2915-E64DFCC99AA1}"/>
              </a:ext>
            </a:extLst>
          </p:cNvPr>
          <p:cNvSpPr>
            <a:spLocks noGrp="1"/>
          </p:cNvSpPr>
          <p:nvPr>
            <p:ph type="sldNum" sz="quarter" idx="12"/>
          </p:nvPr>
        </p:nvSpPr>
        <p:spPr/>
        <p:txBody>
          <a:bodyPr/>
          <a:lstStyle/>
          <a:p>
            <a:fld id="{3754881A-DEB3-8248-8CE5-0F39D8EF4C1F}" type="slidenum">
              <a:rPr lang="fr-FR" smtClean="0"/>
              <a:t>‹N°›</a:t>
            </a:fld>
            <a:endParaRPr lang="fr-FR"/>
          </a:p>
        </p:txBody>
      </p:sp>
    </p:spTree>
    <p:extLst>
      <p:ext uri="{BB962C8B-B14F-4D97-AF65-F5344CB8AC3E}">
        <p14:creationId xmlns:p14="http://schemas.microsoft.com/office/powerpoint/2010/main" val="4175617676"/>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Image avec légende">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261C4E04-53E2-CFDE-B220-9DF962E4399D}"/>
              </a:ext>
            </a:extLst>
          </p:cNvPr>
          <p:cNvSpPr>
            <a:spLocks noGrp="1"/>
          </p:cNvSpPr>
          <p:nvPr>
            <p:ph type="title"/>
          </p:nvPr>
        </p:nvSpPr>
        <p:spPr>
          <a:xfrm>
            <a:off x="839788" y="457200"/>
            <a:ext cx="3932237" cy="1600200"/>
          </a:xfrm>
        </p:spPr>
        <p:txBody>
          <a:bodyPr anchor="b"/>
          <a:lstStyle>
            <a:lvl1pPr>
              <a:defRPr sz="3200"/>
            </a:lvl1pPr>
          </a:lstStyle>
          <a:p>
            <a:r>
              <a:rPr lang="fr-FR"/>
              <a:t>Modifiez le style du titre</a:t>
            </a:r>
          </a:p>
        </p:txBody>
      </p:sp>
      <p:sp>
        <p:nvSpPr>
          <p:cNvPr id="3" name="Espace réservé pour une image  2">
            <a:extLst>
              <a:ext uri="{FF2B5EF4-FFF2-40B4-BE49-F238E27FC236}">
                <a16:creationId xmlns:a16="http://schemas.microsoft.com/office/drawing/2014/main" id="{EE24B6E9-16C4-50ED-AEE4-28898D443207}"/>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fr-FR"/>
          </a:p>
        </p:txBody>
      </p:sp>
      <p:sp>
        <p:nvSpPr>
          <p:cNvPr id="4" name="Espace réservé du texte 3">
            <a:extLst>
              <a:ext uri="{FF2B5EF4-FFF2-40B4-BE49-F238E27FC236}">
                <a16:creationId xmlns:a16="http://schemas.microsoft.com/office/drawing/2014/main" id="{BE14200B-8B00-E30F-03B6-8711E13D839D}"/>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fr-FR"/>
              <a:t>Cliquez pour modifier les styles du texte du masque</a:t>
            </a:r>
          </a:p>
        </p:txBody>
      </p:sp>
      <p:sp>
        <p:nvSpPr>
          <p:cNvPr id="5" name="Espace réservé de la date 4">
            <a:extLst>
              <a:ext uri="{FF2B5EF4-FFF2-40B4-BE49-F238E27FC236}">
                <a16:creationId xmlns:a16="http://schemas.microsoft.com/office/drawing/2014/main" id="{47644E55-C660-989E-C1BD-88E5C67C3461}"/>
              </a:ext>
            </a:extLst>
          </p:cNvPr>
          <p:cNvSpPr>
            <a:spLocks noGrp="1"/>
          </p:cNvSpPr>
          <p:nvPr>
            <p:ph type="dt" sz="half" idx="10"/>
          </p:nvPr>
        </p:nvSpPr>
        <p:spPr/>
        <p:txBody>
          <a:bodyPr/>
          <a:lstStyle/>
          <a:p>
            <a:fld id="{CC823417-4069-0F41-8D8E-219F242D44EC}" type="datetimeFigureOut">
              <a:rPr lang="fr-FR" smtClean="0"/>
              <a:t>29/07/2025</a:t>
            </a:fld>
            <a:endParaRPr lang="fr-FR"/>
          </a:p>
        </p:txBody>
      </p:sp>
      <p:sp>
        <p:nvSpPr>
          <p:cNvPr id="6" name="Espace réservé du pied de page 5">
            <a:extLst>
              <a:ext uri="{FF2B5EF4-FFF2-40B4-BE49-F238E27FC236}">
                <a16:creationId xmlns:a16="http://schemas.microsoft.com/office/drawing/2014/main" id="{E7F9AD82-85DA-11AD-5905-B32670F07EC6}"/>
              </a:ext>
            </a:extLst>
          </p:cNvPr>
          <p:cNvSpPr>
            <a:spLocks noGrp="1"/>
          </p:cNvSpPr>
          <p:nvPr>
            <p:ph type="ftr" sz="quarter" idx="11"/>
          </p:nvPr>
        </p:nvSpPr>
        <p:spPr/>
        <p:txBody>
          <a:bodyPr/>
          <a:lstStyle/>
          <a:p>
            <a:endParaRPr lang="fr-FR"/>
          </a:p>
        </p:txBody>
      </p:sp>
      <p:sp>
        <p:nvSpPr>
          <p:cNvPr id="7" name="Espace réservé du numéro de diapositive 6">
            <a:extLst>
              <a:ext uri="{FF2B5EF4-FFF2-40B4-BE49-F238E27FC236}">
                <a16:creationId xmlns:a16="http://schemas.microsoft.com/office/drawing/2014/main" id="{DA31007D-B291-6EF9-C81C-1D7462B7011B}"/>
              </a:ext>
            </a:extLst>
          </p:cNvPr>
          <p:cNvSpPr>
            <a:spLocks noGrp="1"/>
          </p:cNvSpPr>
          <p:nvPr>
            <p:ph type="sldNum" sz="quarter" idx="12"/>
          </p:nvPr>
        </p:nvSpPr>
        <p:spPr/>
        <p:txBody>
          <a:bodyPr/>
          <a:lstStyle/>
          <a:p>
            <a:fld id="{3754881A-DEB3-8248-8CE5-0F39D8EF4C1F}" type="slidenum">
              <a:rPr lang="fr-FR" smtClean="0"/>
              <a:t>‹N°›</a:t>
            </a:fld>
            <a:endParaRPr lang="fr-FR"/>
          </a:p>
        </p:txBody>
      </p:sp>
    </p:spTree>
    <p:extLst>
      <p:ext uri="{BB962C8B-B14F-4D97-AF65-F5344CB8AC3E}">
        <p14:creationId xmlns:p14="http://schemas.microsoft.com/office/powerpoint/2010/main" val="1498500286"/>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re et texte vertical">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68225F0E-44A9-9D68-5E3D-31E1FE58EDFB}"/>
              </a:ext>
            </a:extLst>
          </p:cNvPr>
          <p:cNvSpPr>
            <a:spLocks noGrp="1"/>
          </p:cNvSpPr>
          <p:nvPr>
            <p:ph type="title"/>
          </p:nvPr>
        </p:nvSpPr>
        <p:spPr/>
        <p:txBody>
          <a:bodyPr/>
          <a:lstStyle/>
          <a:p>
            <a:r>
              <a:rPr lang="fr-FR"/>
              <a:t>Modifiez le style du titre</a:t>
            </a:r>
          </a:p>
        </p:txBody>
      </p:sp>
      <p:sp>
        <p:nvSpPr>
          <p:cNvPr id="3" name="Espace réservé du texte vertical 2">
            <a:extLst>
              <a:ext uri="{FF2B5EF4-FFF2-40B4-BE49-F238E27FC236}">
                <a16:creationId xmlns:a16="http://schemas.microsoft.com/office/drawing/2014/main" id="{3E0EB7BF-E5E4-BE77-C475-AC651AD3EAD4}"/>
              </a:ext>
            </a:extLst>
          </p:cNvPr>
          <p:cNvSpPr>
            <a:spLocks noGrp="1"/>
          </p:cNvSpPr>
          <p:nvPr>
            <p:ph type="body" orient="vert" idx="1"/>
          </p:nvPr>
        </p:nvSpPr>
        <p:spPr/>
        <p:txBody>
          <a:bodyPr vert="eaVert"/>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
        <p:nvSpPr>
          <p:cNvPr id="4" name="Espace réservé de la date 3">
            <a:extLst>
              <a:ext uri="{FF2B5EF4-FFF2-40B4-BE49-F238E27FC236}">
                <a16:creationId xmlns:a16="http://schemas.microsoft.com/office/drawing/2014/main" id="{D5BEDAFD-E695-E318-33FF-72B35E3B5D75}"/>
              </a:ext>
            </a:extLst>
          </p:cNvPr>
          <p:cNvSpPr>
            <a:spLocks noGrp="1"/>
          </p:cNvSpPr>
          <p:nvPr>
            <p:ph type="dt" sz="half" idx="10"/>
          </p:nvPr>
        </p:nvSpPr>
        <p:spPr/>
        <p:txBody>
          <a:bodyPr/>
          <a:lstStyle/>
          <a:p>
            <a:fld id="{CC823417-4069-0F41-8D8E-219F242D44EC}" type="datetimeFigureOut">
              <a:rPr lang="fr-FR" smtClean="0"/>
              <a:t>29/07/2025</a:t>
            </a:fld>
            <a:endParaRPr lang="fr-FR"/>
          </a:p>
        </p:txBody>
      </p:sp>
      <p:sp>
        <p:nvSpPr>
          <p:cNvPr id="5" name="Espace réservé du pied de page 4">
            <a:extLst>
              <a:ext uri="{FF2B5EF4-FFF2-40B4-BE49-F238E27FC236}">
                <a16:creationId xmlns:a16="http://schemas.microsoft.com/office/drawing/2014/main" id="{A4C2281E-7478-8F1D-7A53-83124E5E759C}"/>
              </a:ext>
            </a:extLst>
          </p:cNvPr>
          <p:cNvSpPr>
            <a:spLocks noGrp="1"/>
          </p:cNvSpPr>
          <p:nvPr>
            <p:ph type="ftr" sz="quarter" idx="11"/>
          </p:nvPr>
        </p:nvSpPr>
        <p:spPr/>
        <p:txBody>
          <a:bodyPr/>
          <a:lstStyle/>
          <a:p>
            <a:endParaRPr lang="fr-FR"/>
          </a:p>
        </p:txBody>
      </p:sp>
      <p:sp>
        <p:nvSpPr>
          <p:cNvPr id="6" name="Espace réservé du numéro de diapositive 5">
            <a:extLst>
              <a:ext uri="{FF2B5EF4-FFF2-40B4-BE49-F238E27FC236}">
                <a16:creationId xmlns:a16="http://schemas.microsoft.com/office/drawing/2014/main" id="{0B4F3843-0144-ECC2-1970-6435D6E6E024}"/>
              </a:ext>
            </a:extLst>
          </p:cNvPr>
          <p:cNvSpPr>
            <a:spLocks noGrp="1"/>
          </p:cNvSpPr>
          <p:nvPr>
            <p:ph type="sldNum" sz="quarter" idx="12"/>
          </p:nvPr>
        </p:nvSpPr>
        <p:spPr/>
        <p:txBody>
          <a:bodyPr/>
          <a:lstStyle/>
          <a:p>
            <a:fld id="{3754881A-DEB3-8248-8CE5-0F39D8EF4C1F}" type="slidenum">
              <a:rPr lang="fr-FR" smtClean="0"/>
              <a:t>‹N°›</a:t>
            </a:fld>
            <a:endParaRPr lang="fr-FR"/>
          </a:p>
        </p:txBody>
      </p:sp>
    </p:spTree>
    <p:extLst>
      <p:ext uri="{BB962C8B-B14F-4D97-AF65-F5344CB8AC3E}">
        <p14:creationId xmlns:p14="http://schemas.microsoft.com/office/powerpoint/2010/main" val="3730238689"/>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Titre vertical et texte">
    <p:spTree>
      <p:nvGrpSpPr>
        <p:cNvPr id="1" name=""/>
        <p:cNvGrpSpPr/>
        <p:nvPr/>
      </p:nvGrpSpPr>
      <p:grpSpPr>
        <a:xfrm>
          <a:off x="0" y="0"/>
          <a:ext cx="0" cy="0"/>
          <a:chOff x="0" y="0"/>
          <a:chExt cx="0" cy="0"/>
        </a:xfrm>
      </p:grpSpPr>
      <p:sp>
        <p:nvSpPr>
          <p:cNvPr id="2" name="Titre vertical 1">
            <a:extLst>
              <a:ext uri="{FF2B5EF4-FFF2-40B4-BE49-F238E27FC236}">
                <a16:creationId xmlns:a16="http://schemas.microsoft.com/office/drawing/2014/main" id="{F2E9FC11-6890-8298-B623-24137BD4FD09}"/>
              </a:ext>
            </a:extLst>
          </p:cNvPr>
          <p:cNvSpPr>
            <a:spLocks noGrp="1"/>
          </p:cNvSpPr>
          <p:nvPr>
            <p:ph type="title" orient="vert"/>
          </p:nvPr>
        </p:nvSpPr>
        <p:spPr>
          <a:xfrm>
            <a:off x="8724900" y="365125"/>
            <a:ext cx="2628900" cy="5811838"/>
          </a:xfrm>
        </p:spPr>
        <p:txBody>
          <a:bodyPr vert="eaVert"/>
          <a:lstStyle/>
          <a:p>
            <a:r>
              <a:rPr lang="fr-FR"/>
              <a:t>Modifiez le style du titre</a:t>
            </a:r>
          </a:p>
        </p:txBody>
      </p:sp>
      <p:sp>
        <p:nvSpPr>
          <p:cNvPr id="3" name="Espace réservé du texte vertical 2">
            <a:extLst>
              <a:ext uri="{FF2B5EF4-FFF2-40B4-BE49-F238E27FC236}">
                <a16:creationId xmlns:a16="http://schemas.microsoft.com/office/drawing/2014/main" id="{CFA88145-49D5-8008-11CA-CAFB4C11E27D}"/>
              </a:ext>
            </a:extLst>
          </p:cNvPr>
          <p:cNvSpPr>
            <a:spLocks noGrp="1"/>
          </p:cNvSpPr>
          <p:nvPr>
            <p:ph type="body" orient="vert" idx="1"/>
          </p:nvPr>
        </p:nvSpPr>
        <p:spPr>
          <a:xfrm>
            <a:off x="838200" y="365125"/>
            <a:ext cx="7734300" cy="5811838"/>
          </a:xfrm>
        </p:spPr>
        <p:txBody>
          <a:bodyPr vert="eaVert"/>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
        <p:nvSpPr>
          <p:cNvPr id="4" name="Espace réservé de la date 3">
            <a:extLst>
              <a:ext uri="{FF2B5EF4-FFF2-40B4-BE49-F238E27FC236}">
                <a16:creationId xmlns:a16="http://schemas.microsoft.com/office/drawing/2014/main" id="{4C1D44CE-12AE-0197-B707-9DE198AA257B}"/>
              </a:ext>
            </a:extLst>
          </p:cNvPr>
          <p:cNvSpPr>
            <a:spLocks noGrp="1"/>
          </p:cNvSpPr>
          <p:nvPr>
            <p:ph type="dt" sz="half" idx="10"/>
          </p:nvPr>
        </p:nvSpPr>
        <p:spPr/>
        <p:txBody>
          <a:bodyPr/>
          <a:lstStyle/>
          <a:p>
            <a:fld id="{CC823417-4069-0F41-8D8E-219F242D44EC}" type="datetimeFigureOut">
              <a:rPr lang="fr-FR" smtClean="0"/>
              <a:t>29/07/2025</a:t>
            </a:fld>
            <a:endParaRPr lang="fr-FR"/>
          </a:p>
        </p:txBody>
      </p:sp>
      <p:sp>
        <p:nvSpPr>
          <p:cNvPr id="5" name="Espace réservé du pied de page 4">
            <a:extLst>
              <a:ext uri="{FF2B5EF4-FFF2-40B4-BE49-F238E27FC236}">
                <a16:creationId xmlns:a16="http://schemas.microsoft.com/office/drawing/2014/main" id="{CD2058F8-4CEF-8A06-2055-A79C8335576B}"/>
              </a:ext>
            </a:extLst>
          </p:cNvPr>
          <p:cNvSpPr>
            <a:spLocks noGrp="1"/>
          </p:cNvSpPr>
          <p:nvPr>
            <p:ph type="ftr" sz="quarter" idx="11"/>
          </p:nvPr>
        </p:nvSpPr>
        <p:spPr/>
        <p:txBody>
          <a:bodyPr/>
          <a:lstStyle/>
          <a:p>
            <a:endParaRPr lang="fr-FR"/>
          </a:p>
        </p:txBody>
      </p:sp>
      <p:sp>
        <p:nvSpPr>
          <p:cNvPr id="6" name="Espace réservé du numéro de diapositive 5">
            <a:extLst>
              <a:ext uri="{FF2B5EF4-FFF2-40B4-BE49-F238E27FC236}">
                <a16:creationId xmlns:a16="http://schemas.microsoft.com/office/drawing/2014/main" id="{812CA5D9-FD9D-0D0A-603E-189306E5ABC0}"/>
              </a:ext>
            </a:extLst>
          </p:cNvPr>
          <p:cNvSpPr>
            <a:spLocks noGrp="1"/>
          </p:cNvSpPr>
          <p:nvPr>
            <p:ph type="sldNum" sz="quarter" idx="12"/>
          </p:nvPr>
        </p:nvSpPr>
        <p:spPr/>
        <p:txBody>
          <a:bodyPr/>
          <a:lstStyle/>
          <a:p>
            <a:fld id="{3754881A-DEB3-8248-8CE5-0F39D8EF4C1F}" type="slidenum">
              <a:rPr lang="fr-FR" smtClean="0"/>
              <a:t>‹N°›</a:t>
            </a:fld>
            <a:endParaRPr lang="fr-FR"/>
          </a:p>
        </p:txBody>
      </p:sp>
    </p:spTree>
    <p:extLst>
      <p:ext uri="{BB962C8B-B14F-4D97-AF65-F5344CB8AC3E}">
        <p14:creationId xmlns:p14="http://schemas.microsoft.com/office/powerpoint/2010/main" val="3206076173"/>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Espace réservé du titre 1">
            <a:extLst>
              <a:ext uri="{FF2B5EF4-FFF2-40B4-BE49-F238E27FC236}">
                <a16:creationId xmlns:a16="http://schemas.microsoft.com/office/drawing/2014/main" id="{8043B3E4-3FBF-2056-E0FE-E7AD89820E09}"/>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fr-FR"/>
              <a:t>Modifiez le style du titre</a:t>
            </a:r>
          </a:p>
        </p:txBody>
      </p:sp>
      <p:sp>
        <p:nvSpPr>
          <p:cNvPr id="3" name="Espace réservé du texte 2">
            <a:extLst>
              <a:ext uri="{FF2B5EF4-FFF2-40B4-BE49-F238E27FC236}">
                <a16:creationId xmlns:a16="http://schemas.microsoft.com/office/drawing/2014/main" id="{441E00A4-42CC-8005-EB95-DAE5278FC690}"/>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
        <p:nvSpPr>
          <p:cNvPr id="4" name="Espace réservé de la date 3">
            <a:extLst>
              <a:ext uri="{FF2B5EF4-FFF2-40B4-BE49-F238E27FC236}">
                <a16:creationId xmlns:a16="http://schemas.microsoft.com/office/drawing/2014/main" id="{DC4935FA-11CA-4FBD-2D69-C2B03C99FFC6}"/>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CC823417-4069-0F41-8D8E-219F242D44EC}" type="datetimeFigureOut">
              <a:rPr lang="fr-FR" smtClean="0"/>
              <a:t>29/07/2025</a:t>
            </a:fld>
            <a:endParaRPr lang="fr-FR"/>
          </a:p>
        </p:txBody>
      </p:sp>
      <p:sp>
        <p:nvSpPr>
          <p:cNvPr id="5" name="Espace réservé du pied de page 4">
            <a:extLst>
              <a:ext uri="{FF2B5EF4-FFF2-40B4-BE49-F238E27FC236}">
                <a16:creationId xmlns:a16="http://schemas.microsoft.com/office/drawing/2014/main" id="{7B7D672A-5E00-D291-7DCF-68A76D6B9449}"/>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fr-FR"/>
          </a:p>
        </p:txBody>
      </p:sp>
      <p:sp>
        <p:nvSpPr>
          <p:cNvPr id="6" name="Espace réservé du numéro de diapositive 5">
            <a:extLst>
              <a:ext uri="{FF2B5EF4-FFF2-40B4-BE49-F238E27FC236}">
                <a16:creationId xmlns:a16="http://schemas.microsoft.com/office/drawing/2014/main" id="{B7193C4B-A34A-1C05-015D-C432A90C7C24}"/>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3754881A-DEB3-8248-8CE5-0F39D8EF4C1F}" type="slidenum">
              <a:rPr lang="fr-FR" smtClean="0"/>
              <a:t>‹N°›</a:t>
            </a:fld>
            <a:endParaRPr lang="fr-FR"/>
          </a:p>
        </p:txBody>
      </p:sp>
    </p:spTree>
    <p:extLst>
      <p:ext uri="{BB962C8B-B14F-4D97-AF65-F5344CB8AC3E}">
        <p14:creationId xmlns:p14="http://schemas.microsoft.com/office/powerpoint/2010/main" val="3640730900"/>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fr-F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5.xml"/><Relationship Id="rId1" Type="http://schemas.openxmlformats.org/officeDocument/2006/relationships/slideLayout" Target="../slideLayouts/slideLayout2.xml"/><Relationship Id="rId4" Type="http://schemas.openxmlformats.org/officeDocument/2006/relationships/image" Target="../media/image4.png"/></Relationships>
</file>

<file path=ppt/slides/_rels/slide7.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7.xml"/><Relationship Id="rId1" Type="http://schemas.openxmlformats.org/officeDocument/2006/relationships/slideLayout" Target="../slideLayouts/slideLayout2.xml"/><Relationship Id="rId4" Type="http://schemas.openxmlformats.org/officeDocument/2006/relationships/image" Target="../media/image7.png"/></Relationships>
</file>

<file path=ppt/slides/_rels/slide9.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11.xml"/><Relationship Id="rId1" Type="http://schemas.openxmlformats.org/officeDocument/2006/relationships/slideLayout" Target="../slideLayouts/slideLayout2.xml"/><Relationship Id="rId4" Type="http://schemas.openxmlformats.org/officeDocument/2006/relationships/image" Target="../media/image12.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4522B21E-B2B9-4C72-9A71-C87EFD13748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1999" cy="6857365"/>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0" name="Rectangle 9">
            <a:extLst>
              <a:ext uri="{FF2B5EF4-FFF2-40B4-BE49-F238E27FC236}">
                <a16:creationId xmlns:a16="http://schemas.microsoft.com/office/drawing/2014/main" id="{5EB7D2A2-F448-44D4-938C-DC84CBCB3B1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2"/>
            <a:ext cx="12192000" cy="4412583"/>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2" name="Rectangle 11">
            <a:extLst>
              <a:ext uri="{FF2B5EF4-FFF2-40B4-BE49-F238E27FC236}">
                <a16:creationId xmlns:a16="http://schemas.microsoft.com/office/drawing/2014/main" id="{871AEA07-1E14-44B4-8E55-64EF049CD66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96464" y="551962"/>
            <a:ext cx="10999072" cy="4618549"/>
          </a:xfrm>
          <a:prstGeom prst="rect">
            <a:avLst/>
          </a:prstGeom>
          <a:solidFill>
            <a:schemeClr val="bg1"/>
          </a:solidFill>
          <a:ln>
            <a:noFill/>
          </a:ln>
          <a:effectLst>
            <a:outerShdw blurRad="139700" dist="127000" dir="5400000" algn="t" rotWithShape="0">
              <a:prstClr val="black">
                <a:alpha val="15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 name="Titre 1">
            <a:extLst>
              <a:ext uri="{FF2B5EF4-FFF2-40B4-BE49-F238E27FC236}">
                <a16:creationId xmlns:a16="http://schemas.microsoft.com/office/drawing/2014/main" id="{F1EC366A-5C05-1DDA-8409-7F940838979C}"/>
              </a:ext>
            </a:extLst>
          </p:cNvPr>
          <p:cNvSpPr>
            <a:spLocks noGrp="1"/>
          </p:cNvSpPr>
          <p:nvPr>
            <p:ph type="ctrTitle"/>
          </p:nvPr>
        </p:nvSpPr>
        <p:spPr>
          <a:xfrm>
            <a:off x="1524000" y="1293338"/>
            <a:ext cx="9144000" cy="3274592"/>
          </a:xfrm>
        </p:spPr>
        <p:txBody>
          <a:bodyPr anchor="ctr">
            <a:normAutofit/>
          </a:bodyPr>
          <a:lstStyle/>
          <a:p>
            <a:r>
              <a:rPr lang="en-US" sz="7200" b="1" dirty="0"/>
              <a:t>Pens and Printer </a:t>
            </a:r>
            <a:br>
              <a:rPr lang="en-US" sz="7200" dirty="0"/>
            </a:br>
            <a:r>
              <a:rPr lang="en-US" sz="4000" dirty="0"/>
              <a:t>Project analysis</a:t>
            </a:r>
          </a:p>
        </p:txBody>
      </p:sp>
      <p:sp>
        <p:nvSpPr>
          <p:cNvPr id="3" name="Sous-titre 2">
            <a:extLst>
              <a:ext uri="{FF2B5EF4-FFF2-40B4-BE49-F238E27FC236}">
                <a16:creationId xmlns:a16="http://schemas.microsoft.com/office/drawing/2014/main" id="{F7DC108B-C730-A57D-F986-FFB2EB54F491}"/>
              </a:ext>
            </a:extLst>
          </p:cNvPr>
          <p:cNvSpPr>
            <a:spLocks noGrp="1"/>
          </p:cNvSpPr>
          <p:nvPr>
            <p:ph type="subTitle" idx="1"/>
          </p:nvPr>
        </p:nvSpPr>
        <p:spPr>
          <a:xfrm>
            <a:off x="1524000" y="5514052"/>
            <a:ext cx="9144000" cy="651910"/>
          </a:xfrm>
        </p:spPr>
        <p:txBody>
          <a:bodyPr anchor="ctr">
            <a:normAutofit/>
          </a:bodyPr>
          <a:lstStyle/>
          <a:p>
            <a:r>
              <a:rPr lang="en-US" dirty="0"/>
              <a:t>BERTHEZENE Cédric</a:t>
            </a:r>
          </a:p>
        </p:txBody>
      </p:sp>
      <p:cxnSp>
        <p:nvCxnSpPr>
          <p:cNvPr id="14" name="Straight Connector 13">
            <a:extLst>
              <a:ext uri="{FF2B5EF4-FFF2-40B4-BE49-F238E27FC236}">
                <a16:creationId xmlns:a16="http://schemas.microsoft.com/office/drawing/2014/main" id="{F7C8EA93-3210-4C62-99E9-153C275E3A87}"/>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flipH="1">
            <a:off x="596464" y="6354708"/>
            <a:ext cx="11000232" cy="0"/>
          </a:xfrm>
          <a:prstGeom prst="line">
            <a:avLst/>
          </a:prstGeom>
          <a:ln w="101600">
            <a:solidFill>
              <a:schemeClr val="accent4"/>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815467421"/>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22" name="Rectangle 21">
            <a:extLst>
              <a:ext uri="{FF2B5EF4-FFF2-40B4-BE49-F238E27FC236}">
                <a16:creationId xmlns:a16="http://schemas.microsoft.com/office/drawing/2014/main" id="{B6CDA21F-E7AF-4C75-8395-33F58D5B0E4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1999" cy="6857365"/>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24" name="Group 23">
            <a:extLst>
              <a:ext uri="{FF2B5EF4-FFF2-40B4-BE49-F238E27FC236}">
                <a16:creationId xmlns:a16="http://schemas.microsoft.com/office/drawing/2014/main" id="{AE1C45F0-260A-458C-96ED-C1F6D2151219}"/>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4" y="1216597"/>
            <a:ext cx="731521" cy="673460"/>
            <a:chOff x="3940602" y="308034"/>
            <a:chExt cx="2116791" cy="3428999"/>
          </a:xfrm>
          <a:solidFill>
            <a:schemeClr val="accent4"/>
          </a:solidFill>
        </p:grpSpPr>
        <p:sp>
          <p:nvSpPr>
            <p:cNvPr id="25" name="Rectangle 24">
              <a:extLst>
                <a:ext uri="{FF2B5EF4-FFF2-40B4-BE49-F238E27FC236}">
                  <a16:creationId xmlns:a16="http://schemas.microsoft.com/office/drawing/2014/main" id="{A6604B49-AD5C-4590-B051-06C8222ECD99}"/>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940602" y="308034"/>
              <a:ext cx="566743" cy="3428999"/>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6" name="Rectangle 25">
              <a:extLst>
                <a:ext uri="{FF2B5EF4-FFF2-40B4-BE49-F238E27FC236}">
                  <a16:creationId xmlns:a16="http://schemas.microsoft.com/office/drawing/2014/main" id="{743ECCAF-29C5-4537-947C-7EA1292463DB}"/>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4715626" y="308034"/>
              <a:ext cx="566743" cy="3428999"/>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7" name="Rectangle 26">
              <a:extLst>
                <a:ext uri="{FF2B5EF4-FFF2-40B4-BE49-F238E27FC236}">
                  <a16:creationId xmlns:a16="http://schemas.microsoft.com/office/drawing/2014/main" id="{ED49787B-8DE6-4467-AD0A-8DECC6E0C2D6}"/>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490650" y="308034"/>
              <a:ext cx="566743" cy="3428999"/>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29" name="Rectangle 28">
            <a:extLst>
              <a:ext uri="{FF2B5EF4-FFF2-40B4-BE49-F238E27FC236}">
                <a16:creationId xmlns:a16="http://schemas.microsoft.com/office/drawing/2014/main" id="{D5B0017B-2ECA-49AF-B397-DC140825DF8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40079" y="613954"/>
            <a:ext cx="10907487" cy="1894116"/>
          </a:xfrm>
          <a:prstGeom prst="rect">
            <a:avLst/>
          </a:prstGeom>
          <a:solidFill>
            <a:schemeClr val="bg1"/>
          </a:solidFill>
          <a:ln>
            <a:noFill/>
          </a:ln>
          <a:effectLst>
            <a:outerShdw blurRad="139700" dist="127000" dir="5400000" algn="t" rotWithShape="0">
              <a:prstClr val="black">
                <a:alpha val="15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re 1">
            <a:extLst>
              <a:ext uri="{FF2B5EF4-FFF2-40B4-BE49-F238E27FC236}">
                <a16:creationId xmlns:a16="http://schemas.microsoft.com/office/drawing/2014/main" id="{09B3B6E2-99A6-8181-220B-406ABDB588E0}"/>
              </a:ext>
            </a:extLst>
          </p:cNvPr>
          <p:cNvSpPr>
            <a:spLocks noGrp="1"/>
          </p:cNvSpPr>
          <p:nvPr>
            <p:ph type="title"/>
          </p:nvPr>
        </p:nvSpPr>
        <p:spPr>
          <a:xfrm>
            <a:off x="1043631" y="809898"/>
            <a:ext cx="9942716" cy="1554480"/>
          </a:xfrm>
        </p:spPr>
        <p:txBody>
          <a:bodyPr anchor="ctr">
            <a:normAutofit/>
          </a:bodyPr>
          <a:lstStyle/>
          <a:p>
            <a:r>
              <a:rPr lang="fr-FR" sz="4800" dirty="0"/>
              <a:t>CONTEXT AND BUSINESS OBJECTIVES</a:t>
            </a:r>
          </a:p>
        </p:txBody>
      </p:sp>
      <p:sp>
        <p:nvSpPr>
          <p:cNvPr id="3" name="Espace réservé du contenu 2">
            <a:extLst>
              <a:ext uri="{FF2B5EF4-FFF2-40B4-BE49-F238E27FC236}">
                <a16:creationId xmlns:a16="http://schemas.microsoft.com/office/drawing/2014/main" id="{1F04CC34-5606-72C0-F6DD-79BA48C7D7B9}"/>
              </a:ext>
            </a:extLst>
          </p:cNvPr>
          <p:cNvSpPr>
            <a:spLocks noGrp="1"/>
          </p:cNvSpPr>
          <p:nvPr>
            <p:ph idx="1"/>
          </p:nvPr>
        </p:nvSpPr>
        <p:spPr>
          <a:xfrm>
            <a:off x="1045028" y="3017522"/>
            <a:ext cx="9941319" cy="3124658"/>
          </a:xfrm>
        </p:spPr>
        <p:txBody>
          <a:bodyPr anchor="ctr">
            <a:normAutofit/>
          </a:bodyPr>
          <a:lstStyle/>
          <a:p>
            <a:r>
              <a:rPr lang="en-US" sz="2400" noProof="0" dirty="0"/>
              <a:t>Launch a new line of office stationery (notebooks, pens and sticky notes)</a:t>
            </a:r>
          </a:p>
          <a:p>
            <a:endParaRPr lang="en-US" sz="2400" noProof="0" dirty="0"/>
          </a:p>
          <a:p>
            <a:r>
              <a:rPr lang="en-US" sz="2400" noProof="0" dirty="0"/>
              <a:t>Collected some data for the past 6 weeks of the performance for each sales method</a:t>
            </a:r>
          </a:p>
          <a:p>
            <a:endParaRPr lang="en-US" sz="2400" noProof="0" dirty="0"/>
          </a:p>
          <a:p>
            <a:r>
              <a:rPr lang="en-US" sz="2400" b="1" noProof="0" dirty="0"/>
              <a:t>Goal</a:t>
            </a:r>
            <a:r>
              <a:rPr lang="en-US" sz="2400" noProof="0" dirty="0"/>
              <a:t> : identify the most efficient sales method balancing the revenue earned and the energy spent</a:t>
            </a:r>
          </a:p>
        </p:txBody>
      </p:sp>
      <p:cxnSp>
        <p:nvCxnSpPr>
          <p:cNvPr id="31" name="Straight Connector 30">
            <a:extLst>
              <a:ext uri="{FF2B5EF4-FFF2-40B4-BE49-F238E27FC236}">
                <a16:creationId xmlns:a16="http://schemas.microsoft.com/office/drawing/2014/main" id="{6CF1BAF6-AD41-4082-B212-8A1F9A2E8779}"/>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flipH="1">
            <a:off x="838200" y="6485313"/>
            <a:ext cx="10515600" cy="0"/>
          </a:xfrm>
          <a:prstGeom prst="line">
            <a:avLst/>
          </a:prstGeom>
          <a:ln w="57150">
            <a:solidFill>
              <a:schemeClr val="accent4"/>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4191549412"/>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36" name="Rectangle 35">
            <a:extLst>
              <a:ext uri="{FF2B5EF4-FFF2-40B4-BE49-F238E27FC236}">
                <a16:creationId xmlns:a16="http://schemas.microsoft.com/office/drawing/2014/main" id="{B6CDA21F-E7AF-4C75-8395-33F58D5B0E4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1999" cy="6857365"/>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38" name="Group 37">
            <a:extLst>
              <a:ext uri="{FF2B5EF4-FFF2-40B4-BE49-F238E27FC236}">
                <a16:creationId xmlns:a16="http://schemas.microsoft.com/office/drawing/2014/main" id="{AE1C45F0-260A-458C-96ED-C1F6D2151219}"/>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4" y="1216597"/>
            <a:ext cx="731521" cy="673460"/>
            <a:chOff x="3940602" y="308034"/>
            <a:chExt cx="2116791" cy="3428999"/>
          </a:xfrm>
          <a:solidFill>
            <a:schemeClr val="accent4"/>
          </a:solidFill>
        </p:grpSpPr>
        <p:sp>
          <p:nvSpPr>
            <p:cNvPr id="39" name="Rectangle 38">
              <a:extLst>
                <a:ext uri="{FF2B5EF4-FFF2-40B4-BE49-F238E27FC236}">
                  <a16:creationId xmlns:a16="http://schemas.microsoft.com/office/drawing/2014/main" id="{A6604B49-AD5C-4590-B051-06C8222ECD99}"/>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940602" y="308034"/>
              <a:ext cx="566743" cy="3428999"/>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0" name="Rectangle 39">
              <a:extLst>
                <a:ext uri="{FF2B5EF4-FFF2-40B4-BE49-F238E27FC236}">
                  <a16:creationId xmlns:a16="http://schemas.microsoft.com/office/drawing/2014/main" id="{743ECCAF-29C5-4537-947C-7EA1292463DB}"/>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4715626" y="308034"/>
              <a:ext cx="566743" cy="3428999"/>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1" name="Rectangle 40">
              <a:extLst>
                <a:ext uri="{FF2B5EF4-FFF2-40B4-BE49-F238E27FC236}">
                  <a16:creationId xmlns:a16="http://schemas.microsoft.com/office/drawing/2014/main" id="{ED49787B-8DE6-4467-AD0A-8DECC6E0C2D6}"/>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490650" y="308034"/>
              <a:ext cx="566743" cy="3428999"/>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43" name="Rectangle 42">
            <a:extLst>
              <a:ext uri="{FF2B5EF4-FFF2-40B4-BE49-F238E27FC236}">
                <a16:creationId xmlns:a16="http://schemas.microsoft.com/office/drawing/2014/main" id="{D5B0017B-2ECA-49AF-B397-DC140825DF8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40079" y="613954"/>
            <a:ext cx="10907487" cy="1894116"/>
          </a:xfrm>
          <a:prstGeom prst="rect">
            <a:avLst/>
          </a:prstGeom>
          <a:solidFill>
            <a:schemeClr val="bg1"/>
          </a:solidFill>
          <a:ln>
            <a:noFill/>
          </a:ln>
          <a:effectLst>
            <a:outerShdw blurRad="139700" dist="127000" dir="5400000" algn="t" rotWithShape="0">
              <a:prstClr val="black">
                <a:alpha val="15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re 1">
            <a:extLst>
              <a:ext uri="{FF2B5EF4-FFF2-40B4-BE49-F238E27FC236}">
                <a16:creationId xmlns:a16="http://schemas.microsoft.com/office/drawing/2014/main" id="{CEA6C167-B175-4A83-92B8-592E17BCFA48}"/>
              </a:ext>
            </a:extLst>
          </p:cNvPr>
          <p:cNvSpPr>
            <a:spLocks noGrp="1"/>
          </p:cNvSpPr>
          <p:nvPr>
            <p:ph type="title"/>
          </p:nvPr>
        </p:nvSpPr>
        <p:spPr>
          <a:xfrm>
            <a:off x="1043631" y="809898"/>
            <a:ext cx="9942716" cy="1554480"/>
          </a:xfrm>
        </p:spPr>
        <p:txBody>
          <a:bodyPr anchor="ctr">
            <a:normAutofit/>
          </a:bodyPr>
          <a:lstStyle/>
          <a:p>
            <a:r>
              <a:rPr lang="fr-FR" sz="4800"/>
              <a:t>METHODOLOGY AND DATA CLEANING</a:t>
            </a:r>
          </a:p>
        </p:txBody>
      </p:sp>
      <p:sp>
        <p:nvSpPr>
          <p:cNvPr id="3" name="Espace réservé du contenu 2">
            <a:extLst>
              <a:ext uri="{FF2B5EF4-FFF2-40B4-BE49-F238E27FC236}">
                <a16:creationId xmlns:a16="http://schemas.microsoft.com/office/drawing/2014/main" id="{9C749EFF-DCEF-8032-843E-9CCC0D108D17}"/>
              </a:ext>
            </a:extLst>
          </p:cNvPr>
          <p:cNvSpPr>
            <a:spLocks noGrp="1"/>
          </p:cNvSpPr>
          <p:nvPr>
            <p:ph idx="1"/>
          </p:nvPr>
        </p:nvSpPr>
        <p:spPr>
          <a:xfrm>
            <a:off x="1045028" y="3017522"/>
            <a:ext cx="9941319" cy="3124658"/>
          </a:xfrm>
        </p:spPr>
        <p:txBody>
          <a:bodyPr anchor="ctr">
            <a:normAutofit lnSpcReduction="10000"/>
          </a:bodyPr>
          <a:lstStyle/>
          <a:p>
            <a:r>
              <a:rPr lang="en-US" sz="2200" noProof="0" dirty="0"/>
              <a:t>Cleaned 6 weeks of sales data</a:t>
            </a:r>
          </a:p>
          <a:p>
            <a:endParaRPr lang="en-US" sz="2200" noProof="0" dirty="0"/>
          </a:p>
          <a:p>
            <a:r>
              <a:rPr lang="en-US" sz="2200" noProof="0" dirty="0"/>
              <a:t>Fixed sales method categories</a:t>
            </a:r>
          </a:p>
          <a:p>
            <a:endParaRPr lang="en-US" sz="2200" noProof="0" dirty="0"/>
          </a:p>
          <a:p>
            <a:r>
              <a:rPr lang="en-US" sz="2200" noProof="0" dirty="0"/>
              <a:t>Analyzed the overall revenue, the revenue per sales method and assessed if there were any differences between each customers’ groups</a:t>
            </a:r>
          </a:p>
          <a:p>
            <a:endParaRPr lang="en-US" sz="2200" noProof="0" dirty="0"/>
          </a:p>
          <a:p>
            <a:r>
              <a:rPr lang="en-US" sz="2200" noProof="0" dirty="0"/>
              <a:t>Set a business metric to monitor the performance for each sales method</a:t>
            </a:r>
            <a:endParaRPr lang="en-US" sz="1800" noProof="0" dirty="0"/>
          </a:p>
        </p:txBody>
      </p:sp>
      <p:cxnSp>
        <p:nvCxnSpPr>
          <p:cNvPr id="45" name="Straight Connector 44">
            <a:extLst>
              <a:ext uri="{FF2B5EF4-FFF2-40B4-BE49-F238E27FC236}">
                <a16:creationId xmlns:a16="http://schemas.microsoft.com/office/drawing/2014/main" id="{6CF1BAF6-AD41-4082-B212-8A1F9A2E8779}"/>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flipH="1">
            <a:off x="838200" y="6485313"/>
            <a:ext cx="10515600" cy="0"/>
          </a:xfrm>
          <a:prstGeom prst="line">
            <a:avLst/>
          </a:prstGeom>
          <a:ln w="57150">
            <a:solidFill>
              <a:schemeClr val="accent4"/>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906981156"/>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0" name="Rectangle 19">
            <a:extLst>
              <a:ext uri="{FF2B5EF4-FFF2-40B4-BE49-F238E27FC236}">
                <a16:creationId xmlns:a16="http://schemas.microsoft.com/office/drawing/2014/main" id="{3AD630B4-4CCC-7B1D-1803-DAED942D7E5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solidFill>
            <a:srgbClr val="000000"/>
          </a:soli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6" name="Picture 15" descr="Panneau de salles de serveurs lumineux">
            <a:extLst>
              <a:ext uri="{FF2B5EF4-FFF2-40B4-BE49-F238E27FC236}">
                <a16:creationId xmlns:a16="http://schemas.microsoft.com/office/drawing/2014/main" id="{5BD37FBA-D6C5-17E6-C3E0-41ABCD745A9F}"/>
              </a:ext>
            </a:extLst>
          </p:cNvPr>
          <p:cNvPicPr>
            <a:picLocks noChangeAspect="1"/>
          </p:cNvPicPr>
          <p:nvPr/>
        </p:nvPicPr>
        <p:blipFill>
          <a:blip r:embed="rId2">
            <a:alphaModFix amt="50000"/>
          </a:blip>
          <a:srcRect t="15730"/>
          <a:stretch>
            <a:fillRect/>
          </a:stretch>
        </p:blipFill>
        <p:spPr>
          <a:xfrm>
            <a:off x="20" y="10"/>
            <a:ext cx="12191979" cy="6857990"/>
          </a:xfrm>
          <a:prstGeom prst="rect">
            <a:avLst/>
          </a:prstGeom>
        </p:spPr>
      </p:pic>
      <p:sp>
        <p:nvSpPr>
          <p:cNvPr id="2" name="Titre 1">
            <a:extLst>
              <a:ext uri="{FF2B5EF4-FFF2-40B4-BE49-F238E27FC236}">
                <a16:creationId xmlns:a16="http://schemas.microsoft.com/office/drawing/2014/main" id="{E5BC1CEB-9351-3F78-07FF-FA833B414E1C}"/>
              </a:ext>
            </a:extLst>
          </p:cNvPr>
          <p:cNvSpPr>
            <a:spLocks noGrp="1"/>
          </p:cNvSpPr>
          <p:nvPr>
            <p:ph type="title"/>
          </p:nvPr>
        </p:nvSpPr>
        <p:spPr>
          <a:xfrm>
            <a:off x="762000" y="1137434"/>
            <a:ext cx="7848600" cy="3204429"/>
          </a:xfrm>
        </p:spPr>
        <p:txBody>
          <a:bodyPr vert="horz" lIns="91440" tIns="45720" rIns="91440" bIns="45720" rtlCol="0" anchor="t">
            <a:normAutofit/>
          </a:bodyPr>
          <a:lstStyle/>
          <a:p>
            <a:r>
              <a:rPr lang="en-US" sz="4000">
                <a:solidFill>
                  <a:srgbClr val="FFFFFF"/>
                </a:solidFill>
              </a:rPr>
              <a:t>DATA EXPLORATORY</a:t>
            </a:r>
          </a:p>
        </p:txBody>
      </p:sp>
      <p:cxnSp>
        <p:nvCxnSpPr>
          <p:cNvPr id="22" name="Straight Connector 21">
            <a:extLst>
              <a:ext uri="{FF2B5EF4-FFF2-40B4-BE49-F238E27FC236}">
                <a16:creationId xmlns:a16="http://schemas.microsoft.com/office/drawing/2014/main" id="{49264613-F0F7-08CE-0ADF-98407A64DAE6}"/>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865140" y="871146"/>
            <a:ext cx="736939" cy="0"/>
          </a:xfrm>
          <a:prstGeom prst="line">
            <a:avLst/>
          </a:prstGeom>
          <a:ln w="57150">
            <a:solidFill>
              <a:schemeClr val="accent4"/>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990945629"/>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35" name="Rectangle 34">
            <a:extLst>
              <a:ext uri="{FF2B5EF4-FFF2-40B4-BE49-F238E27FC236}">
                <a16:creationId xmlns:a16="http://schemas.microsoft.com/office/drawing/2014/main" id="{9180DE06-7362-4888-AADA-7AADD57AC49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1999" cy="6857365"/>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re 1">
            <a:extLst>
              <a:ext uri="{FF2B5EF4-FFF2-40B4-BE49-F238E27FC236}">
                <a16:creationId xmlns:a16="http://schemas.microsoft.com/office/drawing/2014/main" id="{CC5F983D-7B3D-D675-6C3A-411AF607C75D}"/>
              </a:ext>
            </a:extLst>
          </p:cNvPr>
          <p:cNvSpPr>
            <a:spLocks noGrp="1"/>
          </p:cNvSpPr>
          <p:nvPr>
            <p:ph type="title"/>
          </p:nvPr>
        </p:nvSpPr>
        <p:spPr>
          <a:xfrm>
            <a:off x="7331384" y="679730"/>
            <a:ext cx="4171994" cy="3932729"/>
          </a:xfrm>
        </p:spPr>
        <p:txBody>
          <a:bodyPr vert="horz" lIns="91440" tIns="45720" rIns="91440" bIns="45720" rtlCol="0" anchor="b">
            <a:normAutofit/>
          </a:bodyPr>
          <a:lstStyle/>
          <a:p>
            <a:r>
              <a:rPr lang="en-US" sz="5100" kern="1200">
                <a:solidFill>
                  <a:schemeClr val="tx1"/>
                </a:solidFill>
                <a:latin typeface="+mj-lt"/>
                <a:ea typeface="+mj-ea"/>
                <a:cs typeface="+mj-cs"/>
              </a:rPr>
              <a:t>Email : the most effective channel for customers acquisition</a:t>
            </a:r>
          </a:p>
        </p:txBody>
      </p:sp>
      <p:grpSp>
        <p:nvGrpSpPr>
          <p:cNvPr id="37" name="Group 36">
            <a:extLst>
              <a:ext uri="{FF2B5EF4-FFF2-40B4-BE49-F238E27FC236}">
                <a16:creationId xmlns:a16="http://schemas.microsoft.com/office/drawing/2014/main" id="{3AF6A671-C637-4547-85F4-51B6D1881399}"/>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rot="16200000">
            <a:off x="2218698" y="2733627"/>
            <a:ext cx="1340409" cy="5777807"/>
            <a:chOff x="329184" y="2"/>
            <a:chExt cx="524256" cy="5777807"/>
          </a:xfrm>
        </p:grpSpPr>
        <p:cxnSp>
          <p:nvCxnSpPr>
            <p:cNvPr id="38" name="Straight Connector 37">
              <a:extLst>
                <a:ext uri="{FF2B5EF4-FFF2-40B4-BE49-F238E27FC236}">
                  <a16:creationId xmlns:a16="http://schemas.microsoft.com/office/drawing/2014/main" id="{C575CF26-3D3C-4C5A-A2B7-00432016EF62}"/>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flipH="1">
              <a:off x="329184" y="5777809"/>
              <a:ext cx="521208" cy="0"/>
            </a:xfrm>
            <a:prstGeom prst="line">
              <a:avLst/>
            </a:prstGeom>
            <a:ln w="152400">
              <a:solidFill>
                <a:schemeClr val="accent4"/>
              </a:solidFill>
            </a:ln>
          </p:spPr>
          <p:style>
            <a:lnRef idx="1">
              <a:schemeClr val="accent1"/>
            </a:lnRef>
            <a:fillRef idx="0">
              <a:schemeClr val="accent1"/>
            </a:fillRef>
            <a:effectRef idx="0">
              <a:schemeClr val="accent1"/>
            </a:effectRef>
            <a:fontRef idx="minor">
              <a:schemeClr val="tx1"/>
            </a:fontRef>
          </p:style>
        </p:cxnSp>
        <p:sp>
          <p:nvSpPr>
            <p:cNvPr id="39" name="Rectangle 38">
              <a:extLst>
                <a:ext uri="{FF2B5EF4-FFF2-40B4-BE49-F238E27FC236}">
                  <a16:creationId xmlns:a16="http://schemas.microsoft.com/office/drawing/2014/main" id="{99413ED5-9ED4-4772-BCE4-2BCAE6B12E35}"/>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29184" y="2"/>
              <a:ext cx="524256" cy="5666779"/>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grpSp>
      <p:sp>
        <p:nvSpPr>
          <p:cNvPr id="41" name="Rectangle 40">
            <a:extLst>
              <a:ext uri="{FF2B5EF4-FFF2-40B4-BE49-F238E27FC236}">
                <a16:creationId xmlns:a16="http://schemas.microsoft.com/office/drawing/2014/main" id="{04357C93-F0CB-4A1C-8F77-4E906378981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88623" y="372533"/>
            <a:ext cx="6116779" cy="6068728"/>
          </a:xfrm>
          <a:prstGeom prst="rect">
            <a:avLst/>
          </a:prstGeom>
          <a:solidFill>
            <a:schemeClr val="bg1"/>
          </a:solidFill>
          <a:ln>
            <a:noFill/>
          </a:ln>
          <a:effectLst>
            <a:outerShdw blurRad="139700" dist="127000" dir="5400000" algn="t" rotWithShape="0">
              <a:prstClr val="black">
                <a:alpha val="15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5" name="Image 4" descr="Une image contenant texte, capture d’écran, diagramme, ligne&#10;&#10;Le contenu généré par l’IA peut être incorrect.">
            <a:extLst>
              <a:ext uri="{FF2B5EF4-FFF2-40B4-BE49-F238E27FC236}">
                <a16:creationId xmlns:a16="http://schemas.microsoft.com/office/drawing/2014/main" id="{C9061E64-229A-90C9-2C16-BF125BF81DEC}"/>
              </a:ext>
            </a:extLst>
          </p:cNvPr>
          <p:cNvPicPr>
            <a:picLocks noChangeAspect="1"/>
          </p:cNvPicPr>
          <p:nvPr/>
        </p:nvPicPr>
        <p:blipFill>
          <a:blip r:embed="rId3"/>
          <a:stretch>
            <a:fillRect/>
          </a:stretch>
        </p:blipFill>
        <p:spPr>
          <a:xfrm>
            <a:off x="942597" y="982390"/>
            <a:ext cx="5608830" cy="4893220"/>
          </a:xfrm>
          <a:prstGeom prst="rect">
            <a:avLst/>
          </a:prstGeom>
        </p:spPr>
      </p:pic>
    </p:spTree>
    <p:extLst>
      <p:ext uri="{BB962C8B-B14F-4D97-AF65-F5344CB8AC3E}">
        <p14:creationId xmlns:p14="http://schemas.microsoft.com/office/powerpoint/2010/main" val="3213377170"/>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59" name="Rectangle 58">
            <a:extLst>
              <a:ext uri="{FF2B5EF4-FFF2-40B4-BE49-F238E27FC236}">
                <a16:creationId xmlns:a16="http://schemas.microsoft.com/office/drawing/2014/main" id="{87E5499B-AC4D-4A4A-8703-C49F2827266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1999" cy="6857365"/>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re 1">
            <a:extLst>
              <a:ext uri="{FF2B5EF4-FFF2-40B4-BE49-F238E27FC236}">
                <a16:creationId xmlns:a16="http://schemas.microsoft.com/office/drawing/2014/main" id="{C6293EE3-0E36-F247-745E-8672E291C78C}"/>
              </a:ext>
            </a:extLst>
          </p:cNvPr>
          <p:cNvSpPr>
            <a:spLocks noGrp="1"/>
          </p:cNvSpPr>
          <p:nvPr>
            <p:ph type="title"/>
          </p:nvPr>
        </p:nvSpPr>
        <p:spPr>
          <a:xfrm>
            <a:off x="6723665" y="679730"/>
            <a:ext cx="4779713" cy="3932729"/>
          </a:xfrm>
        </p:spPr>
        <p:txBody>
          <a:bodyPr vert="horz" lIns="91440" tIns="45720" rIns="91440" bIns="45720" rtlCol="0" anchor="b">
            <a:normAutofit/>
          </a:bodyPr>
          <a:lstStyle/>
          <a:p>
            <a:r>
              <a:rPr lang="en-US" sz="5100"/>
              <a:t>Solid revenue performance driven by high-value office stationery</a:t>
            </a:r>
          </a:p>
        </p:txBody>
      </p:sp>
      <p:grpSp>
        <p:nvGrpSpPr>
          <p:cNvPr id="61" name="Group 60">
            <a:extLst>
              <a:ext uri="{FF2B5EF4-FFF2-40B4-BE49-F238E27FC236}">
                <a16:creationId xmlns:a16="http://schemas.microsoft.com/office/drawing/2014/main" id="{3AF6A671-C637-4547-85F4-51B6D1881399}"/>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rot="16200000">
            <a:off x="2218698" y="2733627"/>
            <a:ext cx="1340409" cy="5777807"/>
            <a:chOff x="329184" y="2"/>
            <a:chExt cx="524256" cy="5777807"/>
          </a:xfrm>
        </p:grpSpPr>
        <p:cxnSp>
          <p:nvCxnSpPr>
            <p:cNvPr id="62" name="Straight Connector 61">
              <a:extLst>
                <a:ext uri="{FF2B5EF4-FFF2-40B4-BE49-F238E27FC236}">
                  <a16:creationId xmlns:a16="http://schemas.microsoft.com/office/drawing/2014/main" id="{C575CF26-3D3C-4C5A-A2B7-00432016EF62}"/>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flipH="1">
              <a:off x="329184" y="5777809"/>
              <a:ext cx="521208" cy="0"/>
            </a:xfrm>
            <a:prstGeom prst="line">
              <a:avLst/>
            </a:prstGeom>
            <a:ln w="152400">
              <a:solidFill>
                <a:schemeClr val="accent4"/>
              </a:solidFill>
            </a:ln>
          </p:spPr>
          <p:style>
            <a:lnRef idx="1">
              <a:schemeClr val="accent1"/>
            </a:lnRef>
            <a:fillRef idx="0">
              <a:schemeClr val="accent1"/>
            </a:fillRef>
            <a:effectRef idx="0">
              <a:schemeClr val="accent1"/>
            </a:effectRef>
            <a:fontRef idx="minor">
              <a:schemeClr val="tx1"/>
            </a:fontRef>
          </p:style>
        </p:cxnSp>
        <p:sp>
          <p:nvSpPr>
            <p:cNvPr id="63" name="Rectangle 62">
              <a:extLst>
                <a:ext uri="{FF2B5EF4-FFF2-40B4-BE49-F238E27FC236}">
                  <a16:creationId xmlns:a16="http://schemas.microsoft.com/office/drawing/2014/main" id="{99413ED5-9ED4-4772-BCE4-2BCAE6B12E35}"/>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29184" y="2"/>
              <a:ext cx="524256" cy="5666779"/>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grpSp>
      <p:sp>
        <p:nvSpPr>
          <p:cNvPr id="65" name="Rectangle 64">
            <a:extLst>
              <a:ext uri="{FF2B5EF4-FFF2-40B4-BE49-F238E27FC236}">
                <a16:creationId xmlns:a16="http://schemas.microsoft.com/office/drawing/2014/main" id="{04357C93-F0CB-4A1C-8F77-4E906378981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88625" y="269325"/>
            <a:ext cx="5346416" cy="6171936"/>
          </a:xfrm>
          <a:prstGeom prst="rect">
            <a:avLst/>
          </a:prstGeom>
          <a:solidFill>
            <a:schemeClr val="bg1"/>
          </a:solidFill>
          <a:ln>
            <a:noFill/>
          </a:ln>
          <a:effectLst>
            <a:outerShdw blurRad="139700" dist="127000" dir="5400000" algn="t" rotWithShape="0">
              <a:prstClr val="black">
                <a:alpha val="15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6" name="Image 5">
            <a:extLst>
              <a:ext uri="{FF2B5EF4-FFF2-40B4-BE49-F238E27FC236}">
                <a16:creationId xmlns:a16="http://schemas.microsoft.com/office/drawing/2014/main" id="{B46A66D2-32F1-EE6B-5E6C-C9A487D9EB70}"/>
              </a:ext>
            </a:extLst>
          </p:cNvPr>
          <p:cNvPicPr>
            <a:picLocks noChangeAspect="1"/>
          </p:cNvPicPr>
          <p:nvPr/>
        </p:nvPicPr>
        <p:blipFill>
          <a:blip r:embed="rId3"/>
          <a:stretch>
            <a:fillRect/>
          </a:stretch>
        </p:blipFill>
        <p:spPr>
          <a:xfrm>
            <a:off x="1632481" y="420005"/>
            <a:ext cx="3466279" cy="2816352"/>
          </a:xfrm>
          <a:prstGeom prst="rect">
            <a:avLst/>
          </a:prstGeom>
        </p:spPr>
      </p:pic>
      <p:pic>
        <p:nvPicPr>
          <p:cNvPr id="3" name="Image 2">
            <a:extLst>
              <a:ext uri="{FF2B5EF4-FFF2-40B4-BE49-F238E27FC236}">
                <a16:creationId xmlns:a16="http://schemas.microsoft.com/office/drawing/2014/main" id="{8B6CBFFA-5A6C-E8A3-8E9B-807F824CE351}"/>
              </a:ext>
            </a:extLst>
          </p:cNvPr>
          <p:cNvPicPr>
            <a:picLocks noChangeAspect="1"/>
          </p:cNvPicPr>
          <p:nvPr/>
        </p:nvPicPr>
        <p:blipFill>
          <a:blip r:embed="rId4"/>
          <a:stretch>
            <a:fillRect/>
          </a:stretch>
        </p:blipFill>
        <p:spPr>
          <a:xfrm>
            <a:off x="1432764" y="3444398"/>
            <a:ext cx="3865713" cy="2816352"/>
          </a:xfrm>
          <a:prstGeom prst="rect">
            <a:avLst/>
          </a:prstGeom>
        </p:spPr>
      </p:pic>
    </p:spTree>
    <p:extLst>
      <p:ext uri="{BB962C8B-B14F-4D97-AF65-F5344CB8AC3E}">
        <p14:creationId xmlns:p14="http://schemas.microsoft.com/office/powerpoint/2010/main" val="1634665635"/>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34" name="Rectangle 33">
            <a:extLst>
              <a:ext uri="{FF2B5EF4-FFF2-40B4-BE49-F238E27FC236}">
                <a16:creationId xmlns:a16="http://schemas.microsoft.com/office/drawing/2014/main" id="{9180DE06-7362-4888-AADA-7AADD57AC49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1999" cy="6857365"/>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re 1">
            <a:extLst>
              <a:ext uri="{FF2B5EF4-FFF2-40B4-BE49-F238E27FC236}">
                <a16:creationId xmlns:a16="http://schemas.microsoft.com/office/drawing/2014/main" id="{4F52D5A2-3BDF-7266-5A12-C8B3E928BB44}"/>
              </a:ext>
            </a:extLst>
          </p:cNvPr>
          <p:cNvSpPr>
            <a:spLocks noGrp="1"/>
          </p:cNvSpPr>
          <p:nvPr>
            <p:ph type="title"/>
          </p:nvPr>
        </p:nvSpPr>
        <p:spPr>
          <a:xfrm>
            <a:off x="7331384" y="679730"/>
            <a:ext cx="4171994" cy="3932729"/>
          </a:xfrm>
        </p:spPr>
        <p:txBody>
          <a:bodyPr vert="horz" lIns="91440" tIns="45720" rIns="91440" bIns="45720" rtlCol="0" anchor="b">
            <a:normAutofit fontScale="90000"/>
          </a:bodyPr>
          <a:lstStyle/>
          <a:p>
            <a:r>
              <a:rPr lang="en-US" sz="5100" kern="1200" dirty="0">
                <a:solidFill>
                  <a:schemeClr val="tx1"/>
                </a:solidFill>
                <a:latin typeface="+mj-lt"/>
                <a:ea typeface="+mj-ea"/>
                <a:cs typeface="+mj-cs"/>
              </a:rPr>
              <a:t>Email and call : the most effective combination tool for generating high revenues</a:t>
            </a:r>
          </a:p>
        </p:txBody>
      </p:sp>
      <p:grpSp>
        <p:nvGrpSpPr>
          <p:cNvPr id="36" name="Group 35">
            <a:extLst>
              <a:ext uri="{FF2B5EF4-FFF2-40B4-BE49-F238E27FC236}">
                <a16:creationId xmlns:a16="http://schemas.microsoft.com/office/drawing/2014/main" id="{3AF6A671-C637-4547-85F4-51B6D1881399}"/>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rot="16200000">
            <a:off x="2218698" y="2733627"/>
            <a:ext cx="1340409" cy="5777807"/>
            <a:chOff x="329184" y="2"/>
            <a:chExt cx="524256" cy="5777807"/>
          </a:xfrm>
        </p:grpSpPr>
        <p:cxnSp>
          <p:nvCxnSpPr>
            <p:cNvPr id="37" name="Straight Connector 36">
              <a:extLst>
                <a:ext uri="{FF2B5EF4-FFF2-40B4-BE49-F238E27FC236}">
                  <a16:creationId xmlns:a16="http://schemas.microsoft.com/office/drawing/2014/main" id="{C575CF26-3D3C-4C5A-A2B7-00432016EF62}"/>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flipH="1">
              <a:off x="329184" y="5777809"/>
              <a:ext cx="521208" cy="0"/>
            </a:xfrm>
            <a:prstGeom prst="line">
              <a:avLst/>
            </a:prstGeom>
            <a:ln w="152400">
              <a:solidFill>
                <a:schemeClr val="accent4"/>
              </a:solidFill>
            </a:ln>
          </p:spPr>
          <p:style>
            <a:lnRef idx="1">
              <a:schemeClr val="accent1"/>
            </a:lnRef>
            <a:fillRef idx="0">
              <a:schemeClr val="accent1"/>
            </a:fillRef>
            <a:effectRef idx="0">
              <a:schemeClr val="accent1"/>
            </a:effectRef>
            <a:fontRef idx="minor">
              <a:schemeClr val="tx1"/>
            </a:fontRef>
          </p:style>
        </p:cxnSp>
        <p:sp>
          <p:nvSpPr>
            <p:cNvPr id="38" name="Rectangle 37">
              <a:extLst>
                <a:ext uri="{FF2B5EF4-FFF2-40B4-BE49-F238E27FC236}">
                  <a16:creationId xmlns:a16="http://schemas.microsoft.com/office/drawing/2014/main" id="{99413ED5-9ED4-4772-BCE4-2BCAE6B12E35}"/>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29184" y="2"/>
              <a:ext cx="524256" cy="5666779"/>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grpSp>
      <p:sp>
        <p:nvSpPr>
          <p:cNvPr id="40" name="Rectangle 39">
            <a:extLst>
              <a:ext uri="{FF2B5EF4-FFF2-40B4-BE49-F238E27FC236}">
                <a16:creationId xmlns:a16="http://schemas.microsoft.com/office/drawing/2014/main" id="{04357C93-F0CB-4A1C-8F77-4E906378981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88623" y="372533"/>
            <a:ext cx="6116779" cy="6068728"/>
          </a:xfrm>
          <a:prstGeom prst="rect">
            <a:avLst/>
          </a:prstGeom>
          <a:solidFill>
            <a:schemeClr val="bg1"/>
          </a:solidFill>
          <a:ln>
            <a:noFill/>
          </a:ln>
          <a:effectLst>
            <a:outerShdw blurRad="139700" dist="127000" dir="5400000" algn="t" rotWithShape="0">
              <a:prstClr val="black">
                <a:alpha val="15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3" name="Image 2">
            <a:extLst>
              <a:ext uri="{FF2B5EF4-FFF2-40B4-BE49-F238E27FC236}">
                <a16:creationId xmlns:a16="http://schemas.microsoft.com/office/drawing/2014/main" id="{EBD94E40-96E8-C697-D718-CDFAB2123DF7}"/>
              </a:ext>
            </a:extLst>
          </p:cNvPr>
          <p:cNvPicPr>
            <a:picLocks noChangeAspect="1"/>
          </p:cNvPicPr>
          <p:nvPr/>
        </p:nvPicPr>
        <p:blipFill>
          <a:blip r:embed="rId3"/>
          <a:stretch>
            <a:fillRect/>
          </a:stretch>
        </p:blipFill>
        <p:spPr>
          <a:xfrm>
            <a:off x="942597" y="1194309"/>
            <a:ext cx="5608830" cy="4469382"/>
          </a:xfrm>
          <a:prstGeom prst="rect">
            <a:avLst/>
          </a:prstGeom>
        </p:spPr>
      </p:pic>
    </p:spTree>
    <p:extLst>
      <p:ext uri="{BB962C8B-B14F-4D97-AF65-F5344CB8AC3E}">
        <p14:creationId xmlns:p14="http://schemas.microsoft.com/office/powerpoint/2010/main" val="1056603978"/>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59" name="Rectangle 58">
            <a:extLst>
              <a:ext uri="{FF2B5EF4-FFF2-40B4-BE49-F238E27FC236}">
                <a16:creationId xmlns:a16="http://schemas.microsoft.com/office/drawing/2014/main" id="{2DA60C47-9F76-46D7-9D57-E0C7BA42B81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1999" cy="6857365"/>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re 1">
            <a:extLst>
              <a:ext uri="{FF2B5EF4-FFF2-40B4-BE49-F238E27FC236}">
                <a16:creationId xmlns:a16="http://schemas.microsoft.com/office/drawing/2014/main" id="{7B8396DB-75F1-B730-6141-9E5D8B5D16D9}"/>
              </a:ext>
            </a:extLst>
          </p:cNvPr>
          <p:cNvSpPr>
            <a:spLocks noGrp="1"/>
          </p:cNvSpPr>
          <p:nvPr>
            <p:ph type="title"/>
          </p:nvPr>
        </p:nvSpPr>
        <p:spPr>
          <a:xfrm>
            <a:off x="7178596" y="679730"/>
            <a:ext cx="4475848" cy="3787041"/>
          </a:xfrm>
        </p:spPr>
        <p:txBody>
          <a:bodyPr vert="horz" lIns="91440" tIns="45720" rIns="91440" bIns="45720" rtlCol="0" anchor="b">
            <a:normAutofit/>
          </a:bodyPr>
          <a:lstStyle/>
          <a:p>
            <a:r>
              <a:rPr lang="en-US" sz="4700"/>
              <a:t>Boosting revenue : Combining emails with follow-up call for long-term gains</a:t>
            </a:r>
          </a:p>
        </p:txBody>
      </p:sp>
      <p:sp>
        <p:nvSpPr>
          <p:cNvPr id="61" name="Rectangle 60">
            <a:extLst>
              <a:ext uri="{FF2B5EF4-FFF2-40B4-BE49-F238E27FC236}">
                <a16:creationId xmlns:a16="http://schemas.microsoft.com/office/drawing/2014/main" id="{99413ED5-9ED4-4772-BCE4-2BCAE6B12E3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6200000">
            <a:off x="2365538" y="385757"/>
            <a:ext cx="1715478" cy="6446552"/>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63" name="Rectangle 62">
            <a:extLst>
              <a:ext uri="{FF2B5EF4-FFF2-40B4-BE49-F238E27FC236}">
                <a16:creationId xmlns:a16="http://schemas.microsoft.com/office/drawing/2014/main" id="{04357C93-F0CB-4A1C-8F77-4E906378981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733413" y="269325"/>
            <a:ext cx="5591744" cy="6171936"/>
          </a:xfrm>
          <a:prstGeom prst="rect">
            <a:avLst/>
          </a:prstGeom>
          <a:solidFill>
            <a:schemeClr val="bg1"/>
          </a:solidFill>
          <a:ln>
            <a:noFill/>
          </a:ln>
          <a:effectLst>
            <a:outerShdw blurRad="139700" dist="127000" dir="5400000" algn="t" rotWithShape="0">
              <a:prstClr val="black">
                <a:alpha val="15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6" name="Image 5">
            <a:extLst>
              <a:ext uri="{FF2B5EF4-FFF2-40B4-BE49-F238E27FC236}">
                <a16:creationId xmlns:a16="http://schemas.microsoft.com/office/drawing/2014/main" id="{EF37585C-B0BE-C316-B1A4-46FB90B891CB}"/>
              </a:ext>
            </a:extLst>
          </p:cNvPr>
          <p:cNvPicPr>
            <a:picLocks noChangeAspect="1"/>
          </p:cNvPicPr>
          <p:nvPr/>
        </p:nvPicPr>
        <p:blipFill>
          <a:blip r:embed="rId3"/>
          <a:stretch>
            <a:fillRect/>
          </a:stretch>
        </p:blipFill>
        <p:spPr>
          <a:xfrm>
            <a:off x="1661972" y="425052"/>
            <a:ext cx="3734625" cy="2825496"/>
          </a:xfrm>
          <a:prstGeom prst="rect">
            <a:avLst/>
          </a:prstGeom>
        </p:spPr>
      </p:pic>
      <p:pic>
        <p:nvPicPr>
          <p:cNvPr id="7" name="Image 6">
            <a:extLst>
              <a:ext uri="{FF2B5EF4-FFF2-40B4-BE49-F238E27FC236}">
                <a16:creationId xmlns:a16="http://schemas.microsoft.com/office/drawing/2014/main" id="{1EECC033-A0C8-B38A-6484-6102BB8DE599}"/>
              </a:ext>
            </a:extLst>
          </p:cNvPr>
          <p:cNvPicPr>
            <a:picLocks noChangeAspect="1"/>
          </p:cNvPicPr>
          <p:nvPr/>
        </p:nvPicPr>
        <p:blipFill>
          <a:blip r:embed="rId4"/>
          <a:stretch>
            <a:fillRect/>
          </a:stretch>
        </p:blipFill>
        <p:spPr>
          <a:xfrm>
            <a:off x="1635648" y="3437313"/>
            <a:ext cx="3793309" cy="2825496"/>
          </a:xfrm>
          <a:prstGeom prst="rect">
            <a:avLst/>
          </a:prstGeom>
        </p:spPr>
      </p:pic>
      <p:sp>
        <p:nvSpPr>
          <p:cNvPr id="65" name="Rectangle 64">
            <a:extLst>
              <a:ext uri="{FF2B5EF4-FFF2-40B4-BE49-F238E27FC236}">
                <a16:creationId xmlns:a16="http://schemas.microsoft.com/office/drawing/2014/main" id="{6CF143E5-57C3-46A3-91A2-EDAA7A8E6A7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600543" y="2754068"/>
            <a:ext cx="149016" cy="1709928"/>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1472477726"/>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20" name="Rectangle 19">
            <a:extLst>
              <a:ext uri="{FF2B5EF4-FFF2-40B4-BE49-F238E27FC236}">
                <a16:creationId xmlns:a16="http://schemas.microsoft.com/office/drawing/2014/main" id="{1574D71B-7917-4BD7-887C-1D652DB0DFC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1999" cy="6857365"/>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re 1">
            <a:extLst>
              <a:ext uri="{FF2B5EF4-FFF2-40B4-BE49-F238E27FC236}">
                <a16:creationId xmlns:a16="http://schemas.microsoft.com/office/drawing/2014/main" id="{3D7F82F8-63BB-0BEB-3032-3E4A4B701E29}"/>
              </a:ext>
            </a:extLst>
          </p:cNvPr>
          <p:cNvSpPr>
            <a:spLocks noGrp="1"/>
          </p:cNvSpPr>
          <p:nvPr>
            <p:ph type="title"/>
          </p:nvPr>
        </p:nvSpPr>
        <p:spPr>
          <a:xfrm>
            <a:off x="7658841" y="679730"/>
            <a:ext cx="3951414" cy="3787041"/>
          </a:xfrm>
        </p:spPr>
        <p:txBody>
          <a:bodyPr vert="horz" lIns="91440" tIns="45720" rIns="91440" bIns="45720" rtlCol="0" anchor="b">
            <a:normAutofit/>
          </a:bodyPr>
          <a:lstStyle/>
          <a:p>
            <a:r>
              <a:rPr lang="en-US" sz="4700" kern="1200">
                <a:solidFill>
                  <a:schemeClr val="tx1"/>
                </a:solidFill>
                <a:latin typeface="+mj-lt"/>
                <a:ea typeface="+mj-ea"/>
                <a:cs typeface="+mj-cs"/>
              </a:rPr>
              <a:t>Ensuring stable revenue growth with email and follow-up calls</a:t>
            </a:r>
          </a:p>
        </p:txBody>
      </p:sp>
      <p:sp>
        <p:nvSpPr>
          <p:cNvPr id="22" name="Rectangle 21">
            <a:extLst>
              <a:ext uri="{FF2B5EF4-FFF2-40B4-BE49-F238E27FC236}">
                <a16:creationId xmlns:a16="http://schemas.microsoft.com/office/drawing/2014/main" id="{99413ED5-9ED4-4772-BCE4-2BCAE6B12E3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6200000">
            <a:off x="2605660" y="145634"/>
            <a:ext cx="1715478" cy="6926797"/>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4" name="Rectangle 23">
            <a:extLst>
              <a:ext uri="{FF2B5EF4-FFF2-40B4-BE49-F238E27FC236}">
                <a16:creationId xmlns:a16="http://schemas.microsoft.com/office/drawing/2014/main" id="{04357C93-F0CB-4A1C-8F77-4E906378981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88623" y="269325"/>
            <a:ext cx="6116779" cy="6171936"/>
          </a:xfrm>
          <a:prstGeom prst="rect">
            <a:avLst/>
          </a:prstGeom>
          <a:solidFill>
            <a:schemeClr val="bg1"/>
          </a:solidFill>
          <a:ln>
            <a:noFill/>
          </a:ln>
          <a:effectLst>
            <a:outerShdw blurRad="139700" dist="127000" dir="5400000" algn="t" rotWithShape="0">
              <a:prstClr val="black">
                <a:alpha val="15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3" name="Image 2">
            <a:extLst>
              <a:ext uri="{FF2B5EF4-FFF2-40B4-BE49-F238E27FC236}">
                <a16:creationId xmlns:a16="http://schemas.microsoft.com/office/drawing/2014/main" id="{C4DCA3B8-D24B-7580-BEBD-67F6D767326A}"/>
              </a:ext>
            </a:extLst>
          </p:cNvPr>
          <p:cNvPicPr>
            <a:picLocks noChangeAspect="1"/>
          </p:cNvPicPr>
          <p:nvPr/>
        </p:nvPicPr>
        <p:blipFill>
          <a:blip r:embed="rId3"/>
          <a:stretch>
            <a:fillRect/>
          </a:stretch>
        </p:blipFill>
        <p:spPr>
          <a:xfrm>
            <a:off x="942597" y="985562"/>
            <a:ext cx="5608830" cy="4739461"/>
          </a:xfrm>
          <a:prstGeom prst="rect">
            <a:avLst/>
          </a:prstGeom>
        </p:spPr>
      </p:pic>
      <p:sp>
        <p:nvSpPr>
          <p:cNvPr id="26" name="Rectangle 25">
            <a:extLst>
              <a:ext uri="{FF2B5EF4-FFF2-40B4-BE49-F238E27FC236}">
                <a16:creationId xmlns:a16="http://schemas.microsoft.com/office/drawing/2014/main" id="{6CF143E5-57C3-46A3-91A2-EDAA7A8E6A7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7080788" y="2754068"/>
            <a:ext cx="149016" cy="1709928"/>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3456755840"/>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20" name="Rectangle 19">
            <a:extLst>
              <a:ext uri="{FF2B5EF4-FFF2-40B4-BE49-F238E27FC236}">
                <a16:creationId xmlns:a16="http://schemas.microsoft.com/office/drawing/2014/main" id="{1574D71B-7917-4BD7-887C-1D652DB0DFC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1999" cy="6857365"/>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re 1">
            <a:extLst>
              <a:ext uri="{FF2B5EF4-FFF2-40B4-BE49-F238E27FC236}">
                <a16:creationId xmlns:a16="http://schemas.microsoft.com/office/drawing/2014/main" id="{EB30D356-CC76-B82E-07E3-0A6A6A6FE4B1}"/>
              </a:ext>
            </a:extLst>
          </p:cNvPr>
          <p:cNvSpPr>
            <a:spLocks noGrp="1"/>
          </p:cNvSpPr>
          <p:nvPr>
            <p:ph type="title"/>
          </p:nvPr>
        </p:nvSpPr>
        <p:spPr>
          <a:xfrm>
            <a:off x="7658841" y="679730"/>
            <a:ext cx="3951414" cy="3787041"/>
          </a:xfrm>
        </p:spPr>
        <p:txBody>
          <a:bodyPr vert="horz" lIns="91440" tIns="45720" rIns="91440" bIns="45720" rtlCol="0" anchor="b">
            <a:normAutofit/>
          </a:bodyPr>
          <a:lstStyle/>
          <a:p>
            <a:r>
              <a:rPr lang="en-US" sz="5100" kern="1200">
                <a:solidFill>
                  <a:schemeClr val="tx1"/>
                </a:solidFill>
                <a:latin typeface="+mj-lt"/>
                <a:ea typeface="+mj-ea"/>
                <a:cs typeface="+mj-cs"/>
              </a:rPr>
              <a:t>Single-year customers generated the highest revenue</a:t>
            </a:r>
          </a:p>
        </p:txBody>
      </p:sp>
      <p:sp>
        <p:nvSpPr>
          <p:cNvPr id="22" name="Rectangle 21">
            <a:extLst>
              <a:ext uri="{FF2B5EF4-FFF2-40B4-BE49-F238E27FC236}">
                <a16:creationId xmlns:a16="http://schemas.microsoft.com/office/drawing/2014/main" id="{99413ED5-9ED4-4772-BCE4-2BCAE6B12E3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6200000">
            <a:off x="2605660" y="145634"/>
            <a:ext cx="1715478" cy="6926797"/>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4" name="Rectangle 23">
            <a:extLst>
              <a:ext uri="{FF2B5EF4-FFF2-40B4-BE49-F238E27FC236}">
                <a16:creationId xmlns:a16="http://schemas.microsoft.com/office/drawing/2014/main" id="{04357C93-F0CB-4A1C-8F77-4E906378981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88623" y="269325"/>
            <a:ext cx="6116779" cy="6171936"/>
          </a:xfrm>
          <a:prstGeom prst="rect">
            <a:avLst/>
          </a:prstGeom>
          <a:solidFill>
            <a:schemeClr val="bg1"/>
          </a:solidFill>
          <a:ln>
            <a:noFill/>
          </a:ln>
          <a:effectLst>
            <a:outerShdw blurRad="139700" dist="127000" dir="5400000" algn="t" rotWithShape="0">
              <a:prstClr val="black">
                <a:alpha val="15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3" name="Image 2">
            <a:extLst>
              <a:ext uri="{FF2B5EF4-FFF2-40B4-BE49-F238E27FC236}">
                <a16:creationId xmlns:a16="http://schemas.microsoft.com/office/drawing/2014/main" id="{886BF5C9-FCE0-07E5-0C0A-9EB830689B29}"/>
              </a:ext>
            </a:extLst>
          </p:cNvPr>
          <p:cNvPicPr>
            <a:picLocks noChangeAspect="1"/>
          </p:cNvPicPr>
          <p:nvPr/>
        </p:nvPicPr>
        <p:blipFill>
          <a:blip r:embed="rId3"/>
          <a:stretch>
            <a:fillRect/>
          </a:stretch>
        </p:blipFill>
        <p:spPr>
          <a:xfrm>
            <a:off x="958163" y="538941"/>
            <a:ext cx="5577697" cy="5632704"/>
          </a:xfrm>
          <a:prstGeom prst="rect">
            <a:avLst/>
          </a:prstGeom>
        </p:spPr>
      </p:pic>
      <p:sp>
        <p:nvSpPr>
          <p:cNvPr id="26" name="Rectangle 25">
            <a:extLst>
              <a:ext uri="{FF2B5EF4-FFF2-40B4-BE49-F238E27FC236}">
                <a16:creationId xmlns:a16="http://schemas.microsoft.com/office/drawing/2014/main" id="{6CF143E5-57C3-46A3-91A2-EDAA7A8E6A7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7080788" y="2754068"/>
            <a:ext cx="149016" cy="1709928"/>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4018997357"/>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34" name="Rectangle 33">
            <a:extLst>
              <a:ext uri="{FF2B5EF4-FFF2-40B4-BE49-F238E27FC236}">
                <a16:creationId xmlns:a16="http://schemas.microsoft.com/office/drawing/2014/main" id="{1574D71B-7917-4BD7-887C-1D652DB0DFC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1999" cy="6857365"/>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re 1">
            <a:extLst>
              <a:ext uri="{FF2B5EF4-FFF2-40B4-BE49-F238E27FC236}">
                <a16:creationId xmlns:a16="http://schemas.microsoft.com/office/drawing/2014/main" id="{B9086B68-6C29-DF34-C022-E82CB6E8FA04}"/>
              </a:ext>
            </a:extLst>
          </p:cNvPr>
          <p:cNvSpPr>
            <a:spLocks noGrp="1"/>
          </p:cNvSpPr>
          <p:nvPr>
            <p:ph type="title"/>
          </p:nvPr>
        </p:nvSpPr>
        <p:spPr>
          <a:xfrm>
            <a:off x="7658841" y="679730"/>
            <a:ext cx="3951414" cy="3787041"/>
          </a:xfrm>
        </p:spPr>
        <p:txBody>
          <a:bodyPr vert="horz" lIns="91440" tIns="45720" rIns="91440" bIns="45720" rtlCol="0" anchor="b">
            <a:normAutofit/>
          </a:bodyPr>
          <a:lstStyle/>
          <a:p>
            <a:r>
              <a:rPr lang="en-US" sz="4700" kern="1200">
                <a:solidFill>
                  <a:schemeClr val="tx1"/>
                </a:solidFill>
                <a:latin typeface="+mj-lt"/>
                <a:ea typeface="+mj-ea"/>
                <a:cs typeface="+mj-cs"/>
              </a:rPr>
              <a:t>Email and follow-up calls increase the chance to get a higher revenue</a:t>
            </a:r>
          </a:p>
        </p:txBody>
      </p:sp>
      <p:sp>
        <p:nvSpPr>
          <p:cNvPr id="36" name="Rectangle 35">
            <a:extLst>
              <a:ext uri="{FF2B5EF4-FFF2-40B4-BE49-F238E27FC236}">
                <a16:creationId xmlns:a16="http://schemas.microsoft.com/office/drawing/2014/main" id="{99413ED5-9ED4-4772-BCE4-2BCAE6B12E3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6200000">
            <a:off x="2605660" y="145634"/>
            <a:ext cx="1715478" cy="6926797"/>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38" name="Rectangle 37">
            <a:extLst>
              <a:ext uri="{FF2B5EF4-FFF2-40B4-BE49-F238E27FC236}">
                <a16:creationId xmlns:a16="http://schemas.microsoft.com/office/drawing/2014/main" id="{04357C93-F0CB-4A1C-8F77-4E906378981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88623" y="269325"/>
            <a:ext cx="6116779" cy="6171936"/>
          </a:xfrm>
          <a:prstGeom prst="rect">
            <a:avLst/>
          </a:prstGeom>
          <a:solidFill>
            <a:schemeClr val="bg1"/>
          </a:solidFill>
          <a:ln>
            <a:noFill/>
          </a:ln>
          <a:effectLst>
            <a:outerShdw blurRad="139700" dist="127000" dir="5400000" algn="t" rotWithShape="0">
              <a:prstClr val="black">
                <a:alpha val="15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3" name="Image 2">
            <a:extLst>
              <a:ext uri="{FF2B5EF4-FFF2-40B4-BE49-F238E27FC236}">
                <a16:creationId xmlns:a16="http://schemas.microsoft.com/office/drawing/2014/main" id="{7C3DE39A-DE86-2C25-DD56-F15E520CB0F9}"/>
              </a:ext>
            </a:extLst>
          </p:cNvPr>
          <p:cNvPicPr>
            <a:picLocks noChangeAspect="1"/>
          </p:cNvPicPr>
          <p:nvPr/>
        </p:nvPicPr>
        <p:blipFill>
          <a:blip r:embed="rId3"/>
          <a:stretch>
            <a:fillRect/>
          </a:stretch>
        </p:blipFill>
        <p:spPr>
          <a:xfrm>
            <a:off x="942597" y="779251"/>
            <a:ext cx="5608830" cy="5152084"/>
          </a:xfrm>
          <a:prstGeom prst="rect">
            <a:avLst/>
          </a:prstGeom>
        </p:spPr>
      </p:pic>
      <p:sp>
        <p:nvSpPr>
          <p:cNvPr id="40" name="Rectangle 39">
            <a:extLst>
              <a:ext uri="{FF2B5EF4-FFF2-40B4-BE49-F238E27FC236}">
                <a16:creationId xmlns:a16="http://schemas.microsoft.com/office/drawing/2014/main" id="{6CF143E5-57C3-46A3-91A2-EDAA7A8E6A7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7080788" y="2754068"/>
            <a:ext cx="149016" cy="1709928"/>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2123857924"/>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7" name="Rectangle 16">
            <a:extLst>
              <a:ext uri="{FF2B5EF4-FFF2-40B4-BE49-F238E27FC236}">
                <a16:creationId xmlns:a16="http://schemas.microsoft.com/office/drawing/2014/main" id="{87E5499B-AC4D-4A4A-8703-C49F2827266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1999" cy="6857365"/>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re 1">
            <a:extLst>
              <a:ext uri="{FF2B5EF4-FFF2-40B4-BE49-F238E27FC236}">
                <a16:creationId xmlns:a16="http://schemas.microsoft.com/office/drawing/2014/main" id="{6319C23C-9784-3E5F-1138-36BF3A6FA815}"/>
              </a:ext>
            </a:extLst>
          </p:cNvPr>
          <p:cNvSpPr>
            <a:spLocks noGrp="1"/>
          </p:cNvSpPr>
          <p:nvPr>
            <p:ph type="title"/>
          </p:nvPr>
        </p:nvSpPr>
        <p:spPr>
          <a:xfrm>
            <a:off x="6723665" y="679730"/>
            <a:ext cx="4779713" cy="3932729"/>
          </a:xfrm>
        </p:spPr>
        <p:txBody>
          <a:bodyPr vert="horz" lIns="91440" tIns="45720" rIns="91440" bIns="45720" rtlCol="0" anchor="b">
            <a:normAutofit/>
          </a:bodyPr>
          <a:lstStyle/>
          <a:p>
            <a:r>
              <a:rPr lang="en-US" sz="6000"/>
              <a:t>Business metric to follow</a:t>
            </a:r>
          </a:p>
        </p:txBody>
      </p:sp>
      <p:grpSp>
        <p:nvGrpSpPr>
          <p:cNvPr id="19" name="Group 18">
            <a:extLst>
              <a:ext uri="{FF2B5EF4-FFF2-40B4-BE49-F238E27FC236}">
                <a16:creationId xmlns:a16="http://schemas.microsoft.com/office/drawing/2014/main" id="{3AF6A671-C637-4547-85F4-51B6D1881399}"/>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rot="16200000">
            <a:off x="2218698" y="2733627"/>
            <a:ext cx="1340409" cy="5777807"/>
            <a:chOff x="329184" y="2"/>
            <a:chExt cx="524256" cy="5777807"/>
          </a:xfrm>
        </p:grpSpPr>
        <p:cxnSp>
          <p:nvCxnSpPr>
            <p:cNvPr id="20" name="Straight Connector 19">
              <a:extLst>
                <a:ext uri="{FF2B5EF4-FFF2-40B4-BE49-F238E27FC236}">
                  <a16:creationId xmlns:a16="http://schemas.microsoft.com/office/drawing/2014/main" id="{C575CF26-3D3C-4C5A-A2B7-00432016EF62}"/>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flipH="1">
              <a:off x="329184" y="5777809"/>
              <a:ext cx="521208" cy="0"/>
            </a:xfrm>
            <a:prstGeom prst="line">
              <a:avLst/>
            </a:prstGeom>
            <a:ln w="152400">
              <a:solidFill>
                <a:schemeClr val="accent4"/>
              </a:solidFill>
            </a:ln>
          </p:spPr>
          <p:style>
            <a:lnRef idx="1">
              <a:schemeClr val="accent1"/>
            </a:lnRef>
            <a:fillRef idx="0">
              <a:schemeClr val="accent1"/>
            </a:fillRef>
            <a:effectRef idx="0">
              <a:schemeClr val="accent1"/>
            </a:effectRef>
            <a:fontRef idx="minor">
              <a:schemeClr val="tx1"/>
            </a:fontRef>
          </p:style>
        </p:cxnSp>
        <p:sp>
          <p:nvSpPr>
            <p:cNvPr id="21" name="Rectangle 20">
              <a:extLst>
                <a:ext uri="{FF2B5EF4-FFF2-40B4-BE49-F238E27FC236}">
                  <a16:creationId xmlns:a16="http://schemas.microsoft.com/office/drawing/2014/main" id="{99413ED5-9ED4-4772-BCE4-2BCAE6B12E35}"/>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29184" y="2"/>
              <a:ext cx="524256" cy="5666779"/>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grpSp>
      <p:sp>
        <p:nvSpPr>
          <p:cNvPr id="23" name="Rectangle 22">
            <a:extLst>
              <a:ext uri="{FF2B5EF4-FFF2-40B4-BE49-F238E27FC236}">
                <a16:creationId xmlns:a16="http://schemas.microsoft.com/office/drawing/2014/main" id="{04357C93-F0CB-4A1C-8F77-4E906378981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88625" y="269325"/>
            <a:ext cx="5346416" cy="6171936"/>
          </a:xfrm>
          <a:prstGeom prst="rect">
            <a:avLst/>
          </a:prstGeom>
          <a:solidFill>
            <a:schemeClr val="bg1"/>
          </a:solidFill>
          <a:ln>
            <a:noFill/>
          </a:ln>
          <a:effectLst>
            <a:outerShdw blurRad="139700" dist="127000" dir="5400000" algn="t" rotWithShape="0">
              <a:prstClr val="black">
                <a:alpha val="15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1" name="Image 10" descr="Une image contenant texte, Police, capture d’écran&#10;&#10;Le contenu généré par l’IA peut être incorrect.">
            <a:extLst>
              <a:ext uri="{FF2B5EF4-FFF2-40B4-BE49-F238E27FC236}">
                <a16:creationId xmlns:a16="http://schemas.microsoft.com/office/drawing/2014/main" id="{9BB1B56D-ABA1-6F76-7575-0600BDAB8329}"/>
              </a:ext>
            </a:extLst>
          </p:cNvPr>
          <p:cNvPicPr>
            <a:picLocks noChangeAspect="1"/>
          </p:cNvPicPr>
          <p:nvPr/>
        </p:nvPicPr>
        <p:blipFill>
          <a:blip r:embed="rId3"/>
          <a:stretch>
            <a:fillRect/>
          </a:stretch>
        </p:blipFill>
        <p:spPr>
          <a:xfrm>
            <a:off x="632742" y="2129041"/>
            <a:ext cx="5440399" cy="924867"/>
          </a:xfrm>
          <a:prstGeom prst="rect">
            <a:avLst/>
          </a:prstGeom>
        </p:spPr>
      </p:pic>
      <p:pic>
        <p:nvPicPr>
          <p:cNvPr id="12" name="Image 11" descr="Une image contenant texte, Police, reçu, capture d’écran&#10;&#10;Le contenu généré par l’IA peut être incorrect.">
            <a:extLst>
              <a:ext uri="{FF2B5EF4-FFF2-40B4-BE49-F238E27FC236}">
                <a16:creationId xmlns:a16="http://schemas.microsoft.com/office/drawing/2014/main" id="{3E03FA04-E6C5-2352-42A5-4329C23820DB}"/>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914401" y="4521659"/>
            <a:ext cx="4902440" cy="661830"/>
          </a:xfrm>
          <a:prstGeom prst="rect">
            <a:avLst/>
          </a:prstGeom>
        </p:spPr>
      </p:pic>
    </p:spTree>
    <p:extLst>
      <p:ext uri="{BB962C8B-B14F-4D97-AF65-F5344CB8AC3E}">
        <p14:creationId xmlns:p14="http://schemas.microsoft.com/office/powerpoint/2010/main" val="4229733436"/>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9" name="Rectangle 18">
            <a:extLst>
              <a:ext uri="{FF2B5EF4-FFF2-40B4-BE49-F238E27FC236}">
                <a16:creationId xmlns:a16="http://schemas.microsoft.com/office/drawing/2014/main" id="{3AD318CC-E2A8-4E27-9548-A047A78999B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1999" cy="6857365"/>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re 1">
            <a:extLst>
              <a:ext uri="{FF2B5EF4-FFF2-40B4-BE49-F238E27FC236}">
                <a16:creationId xmlns:a16="http://schemas.microsoft.com/office/drawing/2014/main" id="{9820BEC8-06AD-C8EC-DDC5-59B51DB69686}"/>
              </a:ext>
            </a:extLst>
          </p:cNvPr>
          <p:cNvSpPr>
            <a:spLocks noGrp="1"/>
          </p:cNvSpPr>
          <p:nvPr>
            <p:ph type="title"/>
          </p:nvPr>
        </p:nvSpPr>
        <p:spPr>
          <a:xfrm>
            <a:off x="552994" y="1463040"/>
            <a:ext cx="4580711" cy="2690949"/>
          </a:xfrm>
        </p:spPr>
        <p:txBody>
          <a:bodyPr anchor="t">
            <a:normAutofit/>
          </a:bodyPr>
          <a:lstStyle/>
          <a:p>
            <a:r>
              <a:rPr lang="fr-FR" dirty="0"/>
              <a:t>Conclusion and recommandations</a:t>
            </a:r>
          </a:p>
        </p:txBody>
      </p:sp>
      <p:grpSp>
        <p:nvGrpSpPr>
          <p:cNvPr id="20" name="Group 9">
            <a:extLst>
              <a:ext uri="{FF2B5EF4-FFF2-40B4-BE49-F238E27FC236}">
                <a16:creationId xmlns:a16="http://schemas.microsoft.com/office/drawing/2014/main" id="{B14B560F-9DD7-4302-A60B-EBD3EF59B073}"/>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209667" y="4415246"/>
            <a:ext cx="11982332" cy="2087795"/>
            <a:chOff x="143163" y="5763486"/>
            <a:chExt cx="11982332" cy="739555"/>
          </a:xfrm>
        </p:grpSpPr>
        <p:sp>
          <p:nvSpPr>
            <p:cNvPr id="21" name="Rectangle 20">
              <a:extLst>
                <a:ext uri="{FF2B5EF4-FFF2-40B4-BE49-F238E27FC236}">
                  <a16:creationId xmlns:a16="http://schemas.microsoft.com/office/drawing/2014/main" id="{3A9A4357-BD1D-4622-A4FE-766E6AB8DE84}"/>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flipH="1" flipV="1">
              <a:off x="357444" y="5763486"/>
              <a:ext cx="11768051" cy="739555"/>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22" name="Straight Connector 11">
              <a:extLst>
                <a:ext uri="{FF2B5EF4-FFF2-40B4-BE49-F238E27FC236}">
                  <a16:creationId xmlns:a16="http://schemas.microsoft.com/office/drawing/2014/main" id="{C21D6966-343E-49AC-A026-D2497E0C3CA1}"/>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flipH="1">
              <a:off x="143163" y="5763486"/>
              <a:ext cx="1" cy="739555"/>
            </a:xfrm>
            <a:prstGeom prst="line">
              <a:avLst/>
            </a:prstGeom>
            <a:ln w="177800">
              <a:solidFill>
                <a:schemeClr val="accent4"/>
              </a:solidFill>
            </a:ln>
          </p:spPr>
          <p:style>
            <a:lnRef idx="1">
              <a:schemeClr val="accent1"/>
            </a:lnRef>
            <a:fillRef idx="0">
              <a:schemeClr val="accent1"/>
            </a:fillRef>
            <a:effectRef idx="0">
              <a:schemeClr val="accent1"/>
            </a:effectRef>
            <a:fontRef idx="minor">
              <a:schemeClr val="tx1"/>
            </a:fontRef>
          </p:style>
        </p:cxnSp>
      </p:grpSp>
      <p:sp>
        <p:nvSpPr>
          <p:cNvPr id="14" name="Rectangle 13">
            <a:extLst>
              <a:ext uri="{FF2B5EF4-FFF2-40B4-BE49-F238E27FC236}">
                <a16:creationId xmlns:a16="http://schemas.microsoft.com/office/drawing/2014/main" id="{2C1BBA94-3F40-40AA-8BB9-E69E25E537C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133706" y="587829"/>
            <a:ext cx="6505300" cy="5682342"/>
          </a:xfrm>
          <a:prstGeom prst="rect">
            <a:avLst/>
          </a:prstGeom>
          <a:solidFill>
            <a:schemeClr val="bg1"/>
          </a:solidFill>
          <a:ln>
            <a:noFill/>
          </a:ln>
          <a:effectLst>
            <a:outerShdw blurRad="139700" dist="127000" dir="5400000" algn="t" rotWithShape="0">
              <a:prstClr val="black">
                <a:alpha val="15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Espace réservé du contenu 2">
            <a:extLst>
              <a:ext uri="{FF2B5EF4-FFF2-40B4-BE49-F238E27FC236}">
                <a16:creationId xmlns:a16="http://schemas.microsoft.com/office/drawing/2014/main" id="{CDBA9A34-427A-4B15-1275-3A2F73219018}"/>
              </a:ext>
            </a:extLst>
          </p:cNvPr>
          <p:cNvSpPr>
            <a:spLocks noGrp="1"/>
          </p:cNvSpPr>
          <p:nvPr>
            <p:ph idx="1"/>
          </p:nvPr>
        </p:nvSpPr>
        <p:spPr>
          <a:xfrm>
            <a:off x="5656218" y="1463039"/>
            <a:ext cx="5542387" cy="4300447"/>
          </a:xfrm>
        </p:spPr>
        <p:txBody>
          <a:bodyPr anchor="t">
            <a:normAutofit fontScale="85000" lnSpcReduction="20000"/>
          </a:bodyPr>
          <a:lstStyle/>
          <a:p>
            <a:r>
              <a:rPr lang="en-US" sz="2200" noProof="0" dirty="0"/>
              <a:t>Email and follow-up calls is the best sales method</a:t>
            </a:r>
          </a:p>
          <a:p>
            <a:pPr marL="0" indent="0">
              <a:buNone/>
            </a:pPr>
            <a:endParaRPr lang="en-US" sz="2200" noProof="0" dirty="0"/>
          </a:p>
          <a:p>
            <a:r>
              <a:rPr lang="en-US" sz="2200" noProof="0" dirty="0"/>
              <a:t>The longer a customer is loyal, the less he is ready to buy new products</a:t>
            </a:r>
          </a:p>
          <a:p>
            <a:endParaRPr lang="en-US" sz="2200" noProof="0" dirty="0"/>
          </a:p>
          <a:p>
            <a:r>
              <a:rPr lang="en-US" sz="2400" noProof="0" dirty="0"/>
              <a:t>Use this business metric to keep assessing the sales method performance</a:t>
            </a:r>
          </a:p>
          <a:p>
            <a:endParaRPr lang="en-US" sz="2400" noProof="0" dirty="0"/>
          </a:p>
          <a:p>
            <a:r>
              <a:rPr lang="en-US" sz="2400" noProof="0" dirty="0"/>
              <a:t>Keep combining emails and follow-up calls for longer and sustainable growth</a:t>
            </a:r>
          </a:p>
          <a:p>
            <a:endParaRPr lang="en-US" sz="2400" noProof="0" dirty="0"/>
          </a:p>
          <a:p>
            <a:r>
              <a:rPr lang="en-US" sz="2400" noProof="0" dirty="0"/>
              <a:t>Focus efforts on customers withing their first 5 years</a:t>
            </a:r>
          </a:p>
          <a:p>
            <a:endParaRPr lang="fr-FR" sz="2200" dirty="0"/>
          </a:p>
        </p:txBody>
      </p:sp>
    </p:spTree>
    <p:extLst>
      <p:ext uri="{BB962C8B-B14F-4D97-AF65-F5344CB8AC3E}">
        <p14:creationId xmlns:p14="http://schemas.microsoft.com/office/powerpoint/2010/main" val="2026553722"/>
      </p:ext>
    </p:extLst>
  </p:cSld>
  <p:clrMapOvr>
    <a:masterClrMapping/>
  </p:clrMapOvr>
</p:sld>
</file>

<file path=ppt/theme/theme1.xml><?xml version="1.0" encoding="utf-8"?>
<a:theme xmlns:a="http://schemas.openxmlformats.org/drawingml/2006/main" name="Thème Offic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2.xml><?xml version="1.0" encoding="utf-8"?>
<a:theme xmlns:a="http://schemas.openxmlformats.org/drawingml/2006/main" name="Thème Offic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365</TotalTime>
  <Words>979</Words>
  <Application>Microsoft Macintosh PowerPoint</Application>
  <PresentationFormat>Grand écran</PresentationFormat>
  <Paragraphs>67</Paragraphs>
  <Slides>13</Slides>
  <Notes>11</Notes>
  <HiddenSlides>0</HiddenSlides>
  <MMClips>0</MMClips>
  <ScaleCrop>false</ScaleCrop>
  <HeadingPairs>
    <vt:vector size="6" baseType="variant">
      <vt:variant>
        <vt:lpstr>Polices utilisées</vt:lpstr>
      </vt:variant>
      <vt:variant>
        <vt:i4>3</vt:i4>
      </vt:variant>
      <vt:variant>
        <vt:lpstr>Thème</vt:lpstr>
      </vt:variant>
      <vt:variant>
        <vt:i4>1</vt:i4>
      </vt:variant>
      <vt:variant>
        <vt:lpstr>Titres des diapositives</vt:lpstr>
      </vt:variant>
      <vt:variant>
        <vt:i4>13</vt:i4>
      </vt:variant>
    </vt:vector>
  </HeadingPairs>
  <TitlesOfParts>
    <vt:vector size="17" baseType="lpstr">
      <vt:lpstr>Aptos</vt:lpstr>
      <vt:lpstr>Aptos Display</vt:lpstr>
      <vt:lpstr>Arial</vt:lpstr>
      <vt:lpstr>Thème Office</vt:lpstr>
      <vt:lpstr>Pens and Printer  Project analysis</vt:lpstr>
      <vt:lpstr>CONTEXT AND BUSINESS OBJECTIVES</vt:lpstr>
      <vt:lpstr>METHODOLOGY AND DATA CLEANING</vt:lpstr>
      <vt:lpstr>DATA EXPLORATORY</vt:lpstr>
      <vt:lpstr>Email : the most effective channel for customers acquisition</vt:lpstr>
      <vt:lpstr>Solid revenue performance driven by high-value office stationery</vt:lpstr>
      <vt:lpstr>Email and call : the most effective combination tool for generating high revenues</vt:lpstr>
      <vt:lpstr>Boosting revenue : Combining emails with follow-up call for long-term gains</vt:lpstr>
      <vt:lpstr>Ensuring stable revenue growth with email and follow-up calls</vt:lpstr>
      <vt:lpstr>Single-year customers generated the highest revenue</vt:lpstr>
      <vt:lpstr>Email and follow-up calls increase the chance to get a higher revenue</vt:lpstr>
      <vt:lpstr>Business metric to follow</vt:lpstr>
      <vt:lpstr>Conclusion and recommandations</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Cedric BERTHEZENE</dc:creator>
  <cp:lastModifiedBy>Cedric BERTHEZENE</cp:lastModifiedBy>
  <cp:revision>11</cp:revision>
  <dcterms:created xsi:type="dcterms:W3CDTF">2025-07-25T05:20:54Z</dcterms:created>
  <dcterms:modified xsi:type="dcterms:W3CDTF">2025-07-29T16:21:00Z</dcterms:modified>
</cp:coreProperties>
</file>